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1" r:id="rId3"/>
  </p:sldMasterIdLst>
  <p:sldIdLst>
    <p:sldId id="1124" r:id="rId4"/>
    <p:sldId id="1121" r:id="rId5"/>
    <p:sldId id="1119" r:id="rId6"/>
    <p:sldId id="256" r:id="rId7"/>
    <p:sldId id="1132" r:id="rId8"/>
    <p:sldId id="1122" r:id="rId9"/>
    <p:sldId id="1133" r:id="rId10"/>
    <p:sldId id="1123" r:id="rId11"/>
    <p:sldId id="270" r:id="rId12"/>
    <p:sldId id="1131" r:id="rId13"/>
    <p:sldId id="1125" r:id="rId14"/>
    <p:sldId id="1126" r:id="rId15"/>
    <p:sldId id="1127" r:id="rId16"/>
    <p:sldId id="1129" r:id="rId17"/>
    <p:sldId id="1128" r:id="rId18"/>
    <p:sldId id="1130" r:id="rId1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D4BE7-FFD4-114C-5BB5-93847DC85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A8B39-0D9E-6FA3-FC09-A7FAF149E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4401B9-C392-C745-EA4B-36ADBDEF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A50049-127B-3349-764B-D330BA3C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097D03-5D68-C3E3-87F5-384BDD8B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419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88F64-7522-1884-4889-85534E12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A72F4-EB7D-06B7-2BCF-47C772171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CED166-A260-51DA-37DB-07A3C4FC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3DD27-5707-13BB-4AF0-D4FA22AD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0F4476-7A51-F843-A18E-E5C89C42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926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6B10C-49A7-E298-01CC-01288D8DE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703ADF-C7C6-9C93-D62D-0DCE549D1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2F4D9D-6EDF-5F97-9F90-5316141A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8B30B8-FECF-078A-1B05-922EACEF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A33D0A-A2BF-4FAC-92D3-1D501AF0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7372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10B0B-BB1D-81FE-F60D-D63EBDCD3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72B050-1C26-53F1-D57A-21A865B8D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BA2030-C378-A0DA-2595-AF350410F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3909AE-F04C-32DF-3328-0050B9EA0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C2988F-D8F6-15B2-699D-2D06EAF5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6C527E-CBAA-44C3-8EE9-F64DECCDD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287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070FF-C684-F092-242B-8829FBD82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D13A76-2449-62FD-8D20-E43F851D5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655409-B7B9-89C7-4D75-6AD688C98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ECE8F2-34DF-BEB9-66C3-2A40D9672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2B14E2-5C1F-DA23-EEE7-994F833FF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DFADFDB-6CC8-91B9-0893-0FEAF002C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2DF6D3-E7BB-1040-D613-39691DE9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E4D3DD-90FA-3F26-74B7-2044023B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4390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F6A0A-316C-AC4A-FB21-EFC45D4C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65167D-9F4C-1003-EA5A-A659707C2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1D508A-4D1B-6DA6-A4BC-8A1E5513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4BE01D-9C9D-881A-D8AB-7B4BDB83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159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5A6E07-81B5-259B-2BE4-FF803C08F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9AA60B-20AC-7B0C-B6D5-551B6509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CBC8D-8955-5736-FF9D-3DF79967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518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14FF3-7B9D-FDE3-6D9D-A5CEF508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0B757B-87F2-4A5C-71B8-A9EE995E8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A118D-1421-CC29-6F80-CD8AED536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950D30-3509-C390-7EA3-736BEE046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CC5E94-48AF-60BB-FAE5-EC8C4A31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ADFCD2-4CF2-044B-653F-0030BBD3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6630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A1CE5-2AA6-D43A-88B9-D606839E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DD7D9A-7EF8-C4E2-85FC-B27EFFDAA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E026F9-C790-DC67-9492-4598D5AFA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8FCE5F-A21C-52A7-8DEB-0E4D0B23F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58C6B9-F520-9FFE-148F-203282FB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B311CB-1BAB-11D2-4A44-B85EEC8A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095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0893A-FE68-02D9-AB8C-9BE68034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185B31-2300-5830-BDDB-C5BE60A66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7B0527-0AD9-C517-63D3-FA61AFD6F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A6EB49-0D64-A115-0AB5-0468FAEF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DED0E5-5089-E834-B2EC-4A94718A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25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2A209C-5F7D-C0ED-33E1-E36068CB6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4785A5-BEEC-226D-1264-AEAA3F088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0D671D-3F21-BAE9-5436-CC72CC1E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E5D64-A059-1CDD-F24D-F8FFF65B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F95E45-1B11-91F0-3E8A-D573D34A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4524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2;p2"/>
          <p:cNvSpPr>
            <a:spLocks noGrp="1"/>
          </p:cNvSpPr>
          <p:nvPr>
            <p:ph type="ctrTitle"/>
          </p:nvPr>
        </p:nvSpPr>
        <p:spPr bwMode="auto"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13;p2"/>
          <p:cNvSpPr>
            <a:spLocks noGrp="1"/>
          </p:cNvSpPr>
          <p:nvPr>
            <p:ph type="subTitle" idx="1"/>
          </p:nvPr>
        </p:nvSpPr>
        <p:spPr bwMode="auto">
          <a:xfrm>
            <a:off x="1828800" y="3886201"/>
            <a:ext cx="85344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R="0"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R="0"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R="0"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R="0"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R="0"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R="0"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R="0"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14;p2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15;p2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16;p2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20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Content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8;p3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19;p3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20;p3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21;p3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22;p3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9171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28;p5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29;p5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30;p5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31;p5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32;p5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4604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wo Content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34;p6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35;p6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36;p6"/>
          <p:cNvSpPr>
            <a:spLocks noGrp="1"/>
          </p:cNvSpPr>
          <p:nvPr>
            <p:ph type="body" idx="2"/>
          </p:nvPr>
        </p:nvSpPr>
        <p:spPr bwMode="auto"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37;p6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38;p6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39;p6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556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omparison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1;p7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42;p7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43;p7"/>
          <p:cNvSpPr>
            <a:spLocks noGrp="1"/>
          </p:cNvSpPr>
          <p:nvPr>
            <p:ph type="body" idx="2"/>
          </p:nvPr>
        </p:nvSpPr>
        <p:spPr bwMode="auto"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44;p7"/>
          <p:cNvSpPr>
            <a:spLocks noGrp="1"/>
          </p:cNvSpPr>
          <p:nvPr>
            <p:ph type="body" idx="3"/>
          </p:nvPr>
        </p:nvSpPr>
        <p:spPr bwMode="auto"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45;p7"/>
          <p:cNvSpPr>
            <a:spLocks noGrp="1"/>
          </p:cNvSpPr>
          <p:nvPr>
            <p:ph type="body" idx="4"/>
          </p:nvPr>
        </p:nvSpPr>
        <p:spPr bwMode="auto"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46;p7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47;p7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48;p7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3724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50;p8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1;p8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52;p8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53;p8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4408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ontent with Caption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55;p9"/>
          <p:cNvSpPr>
            <a:spLocks noGrp="1"/>
          </p:cNvSpPr>
          <p:nvPr>
            <p:ph type="title"/>
          </p:nvPr>
        </p:nvSpPr>
        <p:spPr bwMode="auto"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6;p9"/>
          <p:cNvSpPr>
            <a:spLocks noGrp="1"/>
          </p:cNvSpPr>
          <p:nvPr>
            <p:ph type="body" idx="1"/>
          </p:nvPr>
        </p:nvSpPr>
        <p:spPr bwMode="auto"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57;p9"/>
          <p:cNvSpPr>
            <a:spLocks noGrp="1"/>
          </p:cNvSpPr>
          <p:nvPr>
            <p:ph type="body" idx="2"/>
          </p:nvPr>
        </p:nvSpPr>
        <p:spPr bwMode="auto"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58;p9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59;p9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60;p9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3132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Picture with Caption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62;p10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63;p10"/>
          <p:cNvSpPr>
            <a:spLocks noGrp="1"/>
          </p:cNvSpPr>
          <p:nvPr>
            <p:ph type="pic" idx="2"/>
          </p:nvPr>
        </p:nvSpPr>
        <p:spPr bwMode="auto"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64;p10"/>
          <p:cNvSpPr>
            <a:spLocks noGrp="1"/>
          </p:cNvSpPr>
          <p:nvPr>
            <p:ph type="body" idx="1"/>
          </p:nvPr>
        </p:nvSpPr>
        <p:spPr bwMode="auto"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65;p10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66;p10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67;p10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60637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Vertical Text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69;p1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70;p11"/>
          <p:cNvSpPr>
            <a:spLocks noGrp="1"/>
          </p:cNvSpPr>
          <p:nvPr>
            <p:ph type="body" idx="1"/>
          </p:nvPr>
        </p:nvSpPr>
        <p:spPr bwMode="auto">
          <a:xfrm rot="5400000">
            <a:off x="3833019" y="-1623219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71;p11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2;p11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73;p11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976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Vertical Title and Text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75;p12"/>
          <p:cNvSpPr>
            <a:spLocks noGrp="1"/>
          </p:cNvSpPr>
          <p:nvPr>
            <p:ph type="title"/>
          </p:nvPr>
        </p:nvSpPr>
        <p:spPr bwMode="auto">
          <a:xfrm rot="5400000">
            <a:off x="7285038" y="182880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76;p12"/>
          <p:cNvSpPr>
            <a:spLocks noGrp="1"/>
          </p:cNvSpPr>
          <p:nvPr>
            <p:ph type="body" idx="1"/>
          </p:nvPr>
        </p:nvSpPr>
        <p:spPr bwMode="auto">
          <a:xfrm rot="5400000">
            <a:off x="1697039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77;p12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8;p12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79;p12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3451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f the presentation" userDrawn="1">
  <p:cSld name="1_Title of the presentation">
    <p:bg>
      <p:bgPr>
        <a:solidFill>
          <a:srgbClr val="0077D4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5285894" y="0"/>
            <a:ext cx="2313698" cy="2304287"/>
          </a:xfrm>
          <a:prstGeom prst="rect">
            <a:avLst/>
          </a:prstGeom>
          <a:solidFill>
            <a:srgbClr val="0077D4"/>
          </a:solidFill>
          <a:ln>
            <a:noFill/>
          </a:ln>
        </p:spPr>
        <p:txBody>
          <a:bodyPr spcFirstLastPara="1" wrap="square" lIns="85711" tIns="42844" rIns="85711" bIns="4284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9897303" y="4334256"/>
            <a:ext cx="2294698" cy="2523744"/>
          </a:xfrm>
          <a:prstGeom prst="rect">
            <a:avLst/>
          </a:prstGeom>
          <a:solidFill>
            <a:srgbClr val="0077D4"/>
          </a:solidFill>
          <a:ln>
            <a:noFill/>
          </a:ln>
        </p:spPr>
        <p:txBody>
          <a:bodyPr spcFirstLastPara="1" wrap="square" lIns="85711" tIns="42844" rIns="85711" bIns="4284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2"/>
          <p:cNvSpPr/>
          <p:nvPr/>
        </p:nvSpPr>
        <p:spPr>
          <a:xfrm>
            <a:off x="5285532" y="2722"/>
            <a:ext cx="6921308" cy="6855278"/>
          </a:xfrm>
          <a:custGeom>
            <a:avLst/>
            <a:gdLst/>
            <a:ahLst/>
            <a:cxnLst/>
            <a:rect l="l" t="t" r="r" b="b"/>
            <a:pathLst>
              <a:path w="15028" h="15098" extrusionOk="0">
                <a:moveTo>
                  <a:pt x="0" y="5101"/>
                </a:moveTo>
                <a:lnTo>
                  <a:pt x="10034" y="5095"/>
                </a:lnTo>
                <a:cubicBezTo>
                  <a:pt x="10029" y="8429"/>
                  <a:pt x="10023" y="11764"/>
                  <a:pt x="10018" y="15098"/>
                </a:cubicBezTo>
                <a:lnTo>
                  <a:pt x="15010" y="10066"/>
                </a:lnTo>
                <a:cubicBezTo>
                  <a:pt x="15022" y="10076"/>
                  <a:pt x="15026" y="4"/>
                  <a:pt x="15028" y="4"/>
                </a:cubicBezTo>
                <a:lnTo>
                  <a:pt x="5019" y="0"/>
                </a:lnTo>
                <a:lnTo>
                  <a:pt x="0" y="5101"/>
                </a:lnTo>
                <a:close/>
              </a:path>
            </a:pathLst>
          </a:custGeom>
          <a:solidFill>
            <a:srgbClr val="4C9FE0"/>
          </a:solidFill>
          <a:ln>
            <a:noFill/>
          </a:ln>
        </p:spPr>
        <p:txBody>
          <a:bodyPr spcFirstLastPara="1" wrap="square" lIns="85711" tIns="42844" rIns="85711" bIns="4284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2"/>
          <p:cNvSpPr>
            <a:spLocks noGrp="1"/>
          </p:cNvSpPr>
          <p:nvPr>
            <p:ph type="pic" idx="2"/>
          </p:nvPr>
        </p:nvSpPr>
        <p:spPr>
          <a:xfrm>
            <a:off x="1" y="0"/>
            <a:ext cx="5285532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7" name="Google Shape;17;p12"/>
          <p:cNvSpPr txBox="1">
            <a:spLocks noGrp="1"/>
          </p:cNvSpPr>
          <p:nvPr>
            <p:ph type="title"/>
          </p:nvPr>
        </p:nvSpPr>
        <p:spPr>
          <a:xfrm>
            <a:off x="5755078" y="3000375"/>
            <a:ext cx="3496765" cy="610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ublic Sans"/>
              <a:buNone/>
              <a:defRPr sz="4406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body" idx="3"/>
          </p:nvPr>
        </p:nvSpPr>
        <p:spPr>
          <a:xfrm>
            <a:off x="5755078" y="5832652"/>
            <a:ext cx="3496765" cy="362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8625" marR="0" lvl="0" indent="-2143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24"/>
              </a:buClr>
              <a:buSzPts val="1800"/>
              <a:buFont typeface="Arial"/>
              <a:buNone/>
              <a:defRPr sz="1688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857250" marR="0" lvl="1" indent="-36611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•"/>
              <a:defRPr sz="23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85875" marR="0" lvl="2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714500" marR="0" lvl="3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43125" marR="0" lvl="4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71750" marR="0" lvl="5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000375" marR="0" lvl="6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57625" marR="0" lvl="8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4D51DD9-E3F9-413F-8561-A9E5D6DCCD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9898" y="507185"/>
            <a:ext cx="766235" cy="752296"/>
          </a:xfrm>
          <a:prstGeom prst="rect">
            <a:avLst/>
          </a:prstGeom>
        </p:spPr>
      </p:pic>
      <p:pic>
        <p:nvPicPr>
          <p:cNvPr id="19" name="Imagen 1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15610FF9-4057-4BAC-992A-0321AB541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916355" y="422118"/>
            <a:ext cx="1383809" cy="92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050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 " type="secHead">
  <p:cSld name="03_Text 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5356865" y="634500"/>
            <a:ext cx="4579108" cy="38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D4"/>
              </a:buClr>
              <a:buSzPts val="3000"/>
              <a:buFont typeface="Public Sans"/>
              <a:buNone/>
              <a:defRPr sz="2813" b="1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9pPr>
          </a:lstStyle>
          <a:p>
            <a:endParaRPr dirty="0"/>
          </a:p>
        </p:txBody>
      </p:sp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2126509" y="2311875"/>
            <a:ext cx="7932218" cy="42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8625" marR="0" lvl="0" indent="-35123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7D4"/>
              </a:buClr>
              <a:buSzPts val="2300"/>
              <a:buFont typeface="Arial"/>
              <a:buChar char="•"/>
              <a:defRPr sz="2156" b="0" i="0" u="none" strike="noStrike" cap="none">
                <a:solidFill>
                  <a:srgbClr val="062F5D"/>
                </a:solidFill>
                <a:latin typeface="Public Sans Light"/>
                <a:ea typeface="Public Sans Light"/>
                <a:cs typeface="Public Sans Light"/>
                <a:sym typeface="Public Sans Light"/>
              </a:defRPr>
            </a:lvl1pPr>
            <a:lvl2pPr marL="857250" marR="0" lvl="1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150"/>
              <a:buFont typeface="Arial"/>
              <a:buNone/>
              <a:defRPr sz="201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85875" marR="0" lvl="2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Arial"/>
              <a:buNone/>
              <a:defRPr sz="178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714500" marR="0" lvl="3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00"/>
              <a:buFont typeface="Arial"/>
              <a:buNone/>
              <a:defRPr sz="159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43125" marR="0" lvl="4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00"/>
              <a:buFont typeface="Arial"/>
              <a:buNone/>
              <a:defRPr sz="159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71750" marR="0" lvl="5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00"/>
              <a:buFont typeface="Arial"/>
              <a:buNone/>
              <a:defRPr sz="159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000375" marR="0" lvl="6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00"/>
              <a:buFont typeface="Arial"/>
              <a:buNone/>
              <a:defRPr sz="159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00"/>
              <a:buFont typeface="Arial"/>
              <a:buNone/>
              <a:defRPr sz="159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57625" marR="0" lvl="8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00"/>
              <a:buFont typeface="Arial"/>
              <a:buNone/>
              <a:defRPr sz="159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ftr" idx="11"/>
          </p:nvPr>
        </p:nvSpPr>
        <p:spPr>
          <a:xfrm>
            <a:off x="843853" y="634500"/>
            <a:ext cx="4114800" cy="129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44" b="0" i="0" u="none" strike="noStrike" cap="none">
                <a:solidFill>
                  <a:srgbClr val="4C9FE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sldNum" idx="12"/>
          </p:nvPr>
        </p:nvSpPr>
        <p:spPr>
          <a:xfrm>
            <a:off x="475934" y="634500"/>
            <a:ext cx="291604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 rtl="0">
              <a:spcBef>
                <a:spcPts val="0"/>
              </a:spcBef>
              <a:buNone/>
              <a:defRPr sz="844" b="0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0" marR="0" lvl="1" indent="0" algn="l" rtl="0">
              <a:spcBef>
                <a:spcPts val="0"/>
              </a:spcBef>
              <a:buNone/>
              <a:defRPr sz="844" b="0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0" marR="0" lvl="2" indent="0" algn="l" rtl="0">
              <a:spcBef>
                <a:spcPts val="0"/>
              </a:spcBef>
              <a:buNone/>
              <a:defRPr sz="844" b="0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0" marR="0" lvl="3" indent="0" algn="l" rtl="0">
              <a:spcBef>
                <a:spcPts val="0"/>
              </a:spcBef>
              <a:buNone/>
              <a:defRPr sz="844" b="0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0" marR="0" lvl="4" indent="0" algn="l" rtl="0">
              <a:spcBef>
                <a:spcPts val="0"/>
              </a:spcBef>
              <a:buNone/>
              <a:defRPr sz="844" b="0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0" marR="0" lvl="5" indent="0" algn="l" rtl="0">
              <a:spcBef>
                <a:spcPts val="0"/>
              </a:spcBef>
              <a:buNone/>
              <a:defRPr sz="844" b="0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marL="0" marR="0" lvl="6" indent="0" algn="l" rtl="0">
              <a:spcBef>
                <a:spcPts val="0"/>
              </a:spcBef>
              <a:buNone/>
              <a:defRPr sz="844" b="0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marL="0" marR="0" lvl="7" indent="0" algn="l" rtl="0">
              <a:spcBef>
                <a:spcPts val="0"/>
              </a:spcBef>
              <a:buNone/>
              <a:defRPr sz="844" b="0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marL="0" marR="0" lvl="8" indent="0" algn="l" rtl="0">
              <a:spcBef>
                <a:spcPts val="0"/>
              </a:spcBef>
              <a:buNone/>
              <a:defRPr sz="844" b="0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fld id="{00000000-1234-1234-1234-123412341234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156EE973-C2A5-475D-A5BE-DD06B3A53D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0058727" y="441414"/>
            <a:ext cx="976642" cy="645857"/>
          </a:xfrm>
          <a:prstGeom prst="rect">
            <a:avLst/>
          </a:prstGeom>
          <a:effectLst/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6A5860A2-75C0-445F-AD87-8CACB985A1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1241776" y="489305"/>
            <a:ext cx="559655" cy="55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545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Text &amp; Image">
  <p:cSld name="06_Text &amp; Imag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>
            <a:spLocks noGrp="1"/>
          </p:cNvSpPr>
          <p:nvPr>
            <p:ph type="pic" idx="2"/>
          </p:nvPr>
        </p:nvSpPr>
        <p:spPr>
          <a:xfrm>
            <a:off x="0" y="0"/>
            <a:ext cx="5257251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5755077" y="634500"/>
            <a:ext cx="365200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D4"/>
              </a:buClr>
              <a:buSzPts val="3200"/>
              <a:buFont typeface="Public Sans"/>
              <a:buNone/>
              <a:defRPr sz="3000" b="1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9pPr>
          </a:lstStyle>
          <a:p>
            <a:endParaRPr dirty="0"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5755078" y="2311875"/>
            <a:ext cx="5620060" cy="413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8625" marR="0" lvl="0" indent="-2143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marL="857250" marR="0" lvl="1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marL="1285875" marR="0" lvl="2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marL="1714500" marR="0" lvl="3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marL="2143125" marR="0" lvl="4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marL="2571750" marR="0" lvl="5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000375" marR="0" lvl="6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57625" marR="0" lvl="8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8264EBB-CECE-467E-89D9-CC9AE534D4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0058727" y="441414"/>
            <a:ext cx="976642" cy="645857"/>
          </a:xfrm>
          <a:prstGeom prst="rect">
            <a:avLst/>
          </a:prstGeom>
          <a:effectLst/>
        </p:spPr>
      </p:pic>
      <p:pic>
        <p:nvPicPr>
          <p:cNvPr id="12" name="Imagen 11" descr="Logotipo&#10;&#10;Descripción generada automáticamente">
            <a:extLst>
              <a:ext uri="{FF2B5EF4-FFF2-40B4-BE49-F238E27FC236}">
                <a16:creationId xmlns:a16="http://schemas.microsoft.com/office/drawing/2014/main" id="{A9053C1D-6401-472A-BF93-8D1AEC1D9B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1241776" y="489305"/>
            <a:ext cx="559655" cy="55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571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">
  <p:cSld name="2_Table of contents">
    <p:bg>
      <p:bgPr>
        <a:solidFill>
          <a:srgbClr val="0077D4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5755079" y="634500"/>
            <a:ext cx="382319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ublic Sans"/>
              <a:buNone/>
              <a:defRPr sz="3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9pPr>
          </a:lstStyle>
          <a:p>
            <a:endParaRPr dirty="0"/>
          </a:p>
        </p:txBody>
      </p:sp>
      <p:sp>
        <p:nvSpPr>
          <p:cNvPr id="40" name="Google Shape;40;p16"/>
          <p:cNvSpPr txBox="1">
            <a:spLocks noGrp="1"/>
          </p:cNvSpPr>
          <p:nvPr>
            <p:ph type="ftr" idx="11"/>
          </p:nvPr>
        </p:nvSpPr>
        <p:spPr>
          <a:xfrm>
            <a:off x="843853" y="634500"/>
            <a:ext cx="4114800" cy="129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44" b="0" i="0">
                <a:solidFill>
                  <a:srgbClr val="B2D6F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sldNum" idx="12"/>
          </p:nvPr>
        </p:nvSpPr>
        <p:spPr>
          <a:xfrm>
            <a:off x="475934" y="634500"/>
            <a:ext cx="291604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 rtl="0">
              <a:spcBef>
                <a:spcPts val="0"/>
              </a:spcBef>
              <a:buNone/>
              <a:defRPr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0" marR="0" lvl="1" indent="0" algn="l" rtl="0">
              <a:spcBef>
                <a:spcPts val="0"/>
              </a:spcBef>
              <a:buNone/>
              <a:defRPr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0" marR="0" lvl="2" indent="0" algn="l" rtl="0">
              <a:spcBef>
                <a:spcPts val="0"/>
              </a:spcBef>
              <a:buNone/>
              <a:defRPr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0" marR="0" lvl="3" indent="0" algn="l" rtl="0">
              <a:spcBef>
                <a:spcPts val="0"/>
              </a:spcBef>
              <a:buNone/>
              <a:defRPr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0" marR="0" lvl="4" indent="0" algn="l" rtl="0">
              <a:spcBef>
                <a:spcPts val="0"/>
              </a:spcBef>
              <a:buNone/>
              <a:defRPr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0" marR="0" lvl="5" indent="0" algn="l" rtl="0">
              <a:spcBef>
                <a:spcPts val="0"/>
              </a:spcBef>
              <a:buNone/>
              <a:defRPr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marL="0" marR="0" lvl="6" indent="0" algn="l" rtl="0">
              <a:spcBef>
                <a:spcPts val="0"/>
              </a:spcBef>
              <a:buNone/>
              <a:defRPr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marL="0" marR="0" lvl="7" indent="0" algn="l" rtl="0">
              <a:spcBef>
                <a:spcPts val="0"/>
              </a:spcBef>
              <a:buNone/>
              <a:defRPr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marL="0" marR="0" lvl="8" indent="0" algn="l" rtl="0">
              <a:spcBef>
                <a:spcPts val="0"/>
              </a:spcBef>
              <a:buNone/>
              <a:defRPr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fld id="{00000000-1234-1234-1234-123412341234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755078" y="2308500"/>
            <a:ext cx="4710985" cy="51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8625" marR="0" lvl="0" indent="-39290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C9FE0"/>
              </a:buClr>
              <a:buSzPts val="3000"/>
              <a:buFont typeface="Calibri"/>
              <a:buAutoNum type="arabicPeriod"/>
              <a:defRPr sz="2813" b="0" i="0" u="none" strike="noStrike" cap="none">
                <a:solidFill>
                  <a:schemeClr val="lt1"/>
                </a:solidFill>
                <a:latin typeface="Public Sans Light"/>
                <a:ea typeface="Public Sans Light"/>
                <a:cs typeface="Public Sans Light"/>
                <a:sym typeface="Public Sans Light"/>
              </a:defRPr>
            </a:lvl1pPr>
            <a:lvl2pPr marL="857250" marR="0" lvl="1" indent="-36611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•"/>
              <a:defRPr sz="23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85875" marR="0" lvl="2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714500" marR="0" lvl="3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43125" marR="0" lvl="4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71750" marR="0" lvl="5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000375" marR="0" lvl="6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57625" marR="0" lvl="8" indent="-3274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020BCFEB-FE93-42ED-95D3-F4CD495FC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2423" y="469723"/>
            <a:ext cx="600159" cy="589240"/>
          </a:xfrm>
          <a:prstGeom prst="rect">
            <a:avLst/>
          </a:prstGeom>
        </p:spPr>
      </p:pic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A9BC119-D175-4147-99BC-2521AC1839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4145" y="441672"/>
            <a:ext cx="968128" cy="64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777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Text &amp; Highlighted" type="objTx">
  <p:cSld name="04_Text &amp; Highlighted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/>
          <p:nvPr/>
        </p:nvSpPr>
        <p:spPr>
          <a:xfrm>
            <a:off x="0" y="0"/>
            <a:ext cx="5272393" cy="6858000"/>
          </a:xfrm>
          <a:prstGeom prst="rect">
            <a:avLst/>
          </a:prstGeom>
          <a:solidFill>
            <a:srgbClr val="0077D4"/>
          </a:solidFill>
          <a:ln>
            <a:noFill/>
          </a:ln>
        </p:spPr>
        <p:txBody>
          <a:bodyPr spcFirstLastPara="1" wrap="square" lIns="85711" tIns="42844" rIns="85711" bIns="4284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5755078" y="634500"/>
            <a:ext cx="39899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D4"/>
              </a:buClr>
              <a:buSzPts val="3200"/>
              <a:buFont typeface="Public Sans"/>
              <a:buNone/>
              <a:defRPr sz="3000" b="1" i="0" u="none" strike="noStrike" cap="none">
                <a:solidFill>
                  <a:srgbClr val="0077D4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688"/>
            </a:lvl9pPr>
          </a:lstStyle>
          <a:p>
            <a:endParaRPr dirty="0"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1"/>
          </p:nvPr>
        </p:nvSpPr>
        <p:spPr>
          <a:xfrm>
            <a:off x="5755078" y="2311875"/>
            <a:ext cx="5620060" cy="413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8625" marR="0" lvl="0" indent="-2143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marL="857250" marR="0" lvl="1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marL="1285875" marR="0" lvl="2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marL="1714500" marR="0" lvl="3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marL="2143125" marR="0" lvl="4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2F5D"/>
              </a:buClr>
              <a:buSzPts val="2200"/>
              <a:buFont typeface="Arial"/>
              <a:buNone/>
              <a:defRPr sz="2063" b="0" i="0" u="none" strike="noStrike" cap="none">
                <a:solidFill>
                  <a:srgbClr val="062F5D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marL="2571750" marR="0" lvl="5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000375" marR="0" lvl="6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57625" marR="0" lvl="8" indent="-3423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  <a:defRPr sz="2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2"/>
          </p:nvPr>
        </p:nvSpPr>
        <p:spPr>
          <a:xfrm>
            <a:off x="475933" y="2311876"/>
            <a:ext cx="4165258" cy="51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8625" marR="0" lvl="0" indent="-2143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813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857250" marR="0" lvl="1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40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85875" marR="0" lvl="2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2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714500" marR="0" lvl="3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43125" marR="0" lvl="4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71750" marR="0" lvl="5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000375" marR="0" lvl="6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57625" marR="0" lvl="8" indent="-214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ftr" idx="11"/>
          </p:nvPr>
        </p:nvSpPr>
        <p:spPr>
          <a:xfrm>
            <a:off x="843853" y="634500"/>
            <a:ext cx="4114800" cy="129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44" b="0" i="0">
                <a:solidFill>
                  <a:srgbClr val="B2D6F2"/>
                </a:solidFill>
                <a:latin typeface="Public Sans Light"/>
                <a:ea typeface="Public Sans Light"/>
                <a:cs typeface="Public Sans Light"/>
                <a:sym typeface="Public Sa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7"/>
          <p:cNvSpPr/>
          <p:nvPr/>
        </p:nvSpPr>
        <p:spPr>
          <a:xfrm>
            <a:off x="475934" y="634500"/>
            <a:ext cx="291604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44" b="0" i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844" b="0" i="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AAD8815A-7DB0-46D6-BB6F-6C3CA041AF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0058727" y="441414"/>
            <a:ext cx="976642" cy="645857"/>
          </a:xfrm>
          <a:prstGeom prst="rect">
            <a:avLst/>
          </a:prstGeom>
          <a:effectLst/>
        </p:spPr>
      </p:pic>
      <p:pic>
        <p:nvPicPr>
          <p:cNvPr id="12" name="Imagen 11" descr="Logotipo&#10;&#10;Descripción generada automáticamente">
            <a:extLst>
              <a:ext uri="{FF2B5EF4-FFF2-40B4-BE49-F238E27FC236}">
                <a16:creationId xmlns:a16="http://schemas.microsoft.com/office/drawing/2014/main" id="{9E8E8A40-B416-4830-9D65-EC1B611082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1241776" y="489305"/>
            <a:ext cx="559655" cy="55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938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Table of contents">
    <p:bg>
      <p:bgPr>
        <a:solidFill>
          <a:srgbClr val="0077D4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re 6"/>
          <p:cNvSpPr>
            <a:spLocks noGrp="1"/>
          </p:cNvSpPr>
          <p:nvPr>
            <p:ph type="title" hasCustomPrompt="1"/>
          </p:nvPr>
        </p:nvSpPr>
        <p:spPr bwMode="auto">
          <a:xfrm>
            <a:off x="5755079" y="634500"/>
            <a:ext cx="3937792" cy="92333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Public Sans"/>
                <a:ea typeface="Public Sans"/>
                <a:cs typeface="Public Sans"/>
              </a:defRPr>
            </a:lvl1pPr>
          </a:lstStyle>
          <a:p>
            <a:pPr>
              <a:defRPr/>
            </a:pPr>
            <a:r>
              <a:rPr lang="fr-FR" dirty="0"/>
              <a:t>Click para </a:t>
            </a:r>
            <a:r>
              <a:rPr lang="fr-FR" dirty="0" err="1"/>
              <a:t>modificar</a:t>
            </a:r>
            <a:r>
              <a:rPr lang="fr-FR" dirty="0"/>
              <a:t> el </a:t>
            </a:r>
            <a:r>
              <a:rPr lang="fr-FR" dirty="0" err="1"/>
              <a:t>título</a:t>
            </a:r>
            <a:endParaRPr dirty="0"/>
          </a:p>
        </p:txBody>
      </p:sp>
      <p:sp>
        <p:nvSpPr>
          <p:cNvPr id="5" name="Espace réservé du pied de page 12"/>
          <p:cNvSpPr>
            <a:spLocks noGrp="1"/>
          </p:cNvSpPr>
          <p:nvPr>
            <p:ph type="ftr" sz="quarter" idx="11"/>
          </p:nvPr>
        </p:nvSpPr>
        <p:spPr bwMode="auto">
          <a:xfrm>
            <a:off x="843853" y="634500"/>
            <a:ext cx="4114800" cy="1298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844" b="0" i="0">
                <a:solidFill>
                  <a:srgbClr val="B2D6F2"/>
                </a:solidFill>
                <a:latin typeface="Public Sans"/>
                <a:ea typeface="Public Sans"/>
                <a:cs typeface="Public Sans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Espace réservé du numéro de diapositive 13"/>
          <p:cNvSpPr>
            <a:spLocks noGrp="1"/>
          </p:cNvSpPr>
          <p:nvPr>
            <p:ph type="sldNum" sz="quarter" idx="12"/>
          </p:nvPr>
        </p:nvSpPr>
        <p:spPr bwMode="auto">
          <a:xfrm>
            <a:off x="475934" y="634500"/>
            <a:ext cx="291604" cy="1329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844" b="0" i="0">
                <a:solidFill>
                  <a:schemeClr val="bg1"/>
                </a:solidFill>
                <a:latin typeface="Public Sans"/>
                <a:ea typeface="Public Sans"/>
                <a:cs typeface="Public Sans"/>
              </a:defRPr>
            </a:lvl1pPr>
          </a:lstStyle>
          <a:p>
            <a:pPr>
              <a:defRPr/>
            </a:pPr>
            <a:fld id="{48F63A3B-78C7-47BE-AE5E-E10140E04643}" type="slidenum">
              <a:rPr lang="en-US"/>
              <a:t>‹Nº›</a:t>
            </a:fld>
            <a:endParaRPr lang="en-US"/>
          </a:p>
        </p:txBody>
      </p:sp>
      <p:sp>
        <p:nvSpPr>
          <p:cNvPr id="7" name="Espace réservé du texte 15"/>
          <p:cNvSpPr>
            <a:spLocks noGrp="1"/>
          </p:cNvSpPr>
          <p:nvPr>
            <p:ph type="body" sz="quarter" idx="13"/>
          </p:nvPr>
        </p:nvSpPr>
        <p:spPr bwMode="auto">
          <a:xfrm>
            <a:off x="5755078" y="2308500"/>
            <a:ext cx="4710985" cy="2020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482203" indent="-482203">
              <a:buClr>
                <a:srgbClr val="FF6624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Public Sans Light"/>
                <a:ea typeface="Public Sans Light"/>
                <a:cs typeface="Public Sans Light"/>
              </a:defRPr>
            </a:lvl1pPr>
          </a:lstStyle>
          <a:p>
            <a:pPr lvl="0">
              <a:defRPr/>
            </a:pPr>
            <a:endParaRPr lang="fr-FR"/>
          </a:p>
        </p:txBody>
      </p:sp>
      <p:pic>
        <p:nvPicPr>
          <p:cNvPr id="9" name="Imagen 8" descr="Logotipo&#10;&#10;Descripción generada automáticamente">
            <a:extLst>
              <a:ext uri="{FF2B5EF4-FFF2-40B4-BE49-F238E27FC236}">
                <a16:creationId xmlns:a16="http://schemas.microsoft.com/office/drawing/2014/main" id="{6DE9ACC7-DDBA-4E7D-A947-241CA9FDE8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2423" y="469723"/>
            <a:ext cx="600159" cy="589240"/>
          </a:xfrm>
          <a:prstGeom prst="rect">
            <a:avLst/>
          </a:prstGeom>
        </p:spPr>
      </p:pic>
      <p:pic>
        <p:nvPicPr>
          <p:cNvPr id="10" name="Imagen 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031778F-0AA8-4895-B606-0094453D91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4145" y="441672"/>
            <a:ext cx="968128" cy="64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5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EB8959A-D106-BCB1-E1B4-6EAB7AC8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AFCE65-40E4-9A7D-8446-C6BA36FC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CE13A9-C9A0-C5B0-3704-F01C2DCA5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A0499-339E-4029-91E8-72E59495D7C3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DC395-D545-08E9-385B-036B94120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C1DBEB-FC3A-3A7A-FDB0-495A29D13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F01D5-0F9C-4B2E-ADF6-6D927748E21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009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6;p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7;p1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8;p1"/>
          <p:cNvSpPr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9;p1"/>
          <p:cNvSpPr>
            <a:spLocks noGrp="1"/>
          </p:cNvSpPr>
          <p:nvPr>
            <p:ph type="ftr" idx="11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10;p1"/>
          <p:cNvSpPr>
            <a:spLocks noGrp="1"/>
          </p:cNvSpPr>
          <p:nvPr>
            <p:ph type="sldNum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31095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210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unesdoc.unesco.org/ark:/48223/pf0000389743_spa" TargetMode="External"/><Relationship Id="rId3" Type="http://schemas.openxmlformats.org/officeDocument/2006/relationships/hyperlink" Target="https://cdi.mecon.gob.ar/bases/docelec/az6193.pdf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hyperlink" Target="https://publications.iadb.org/es/los-sistemas-de-informacion-y-gestion-educativa-siged-de-america-latina-y-el-caribe-la-ruta-hacia" TargetMode="External"/><Relationship Id="rId4" Type="http://schemas.openxmlformats.org/officeDocument/2006/relationships/image" Target="../media/image9.png"/><Relationship Id="rId9" Type="http://schemas.openxmlformats.org/officeDocument/2006/relationships/hyperlink" Target="https://www.cippec.org/wp-content/uploads/2021/09/233-DPP-EDU-Sistemas-de-alerta-temprana-Perusia-y-Cardini-septiembre-2021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nicef.org/argentina/informes/unicef-oei-sistema-integral-de-informacion-digital-educativa-sinide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publications.iadb.org/es/camino-hacia-la-inclusion-educativa-4-pasos-para-la-construccion-de-sistemas-de-proteccion-de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ippec.org/wp-content/uploads/2024/05/EDU-Sistemas-de-proteccion-de-trayectorias-educativas-en-Argentina.pdf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hyperlink" Target="https://www.iiep.unesco.org/es/publication/uso-de-los-sistemas-de-informacion-en-el-planeamiento-y-gestion-de-politicas-educativas-en-argentina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educacion.gob.ar/" TargetMode="External"/><Relationship Id="rId7" Type="http://schemas.openxmlformats.org/officeDocument/2006/relationships/hyperlink" Target="https://www.argentina.gob.ar/sites/default/files/2024/12/hcd_ausentismo_27126.pdf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hyperlink" Target="https://www.argentina.gob.ar/sites/default/files/pasaje_de_nivel.pdf" TargetMode="Externa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esas-siged.github.io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5144697-C8D3-81E1-7959-21CAAC2920A9}"/>
              </a:ext>
            </a:extLst>
          </p:cNvPr>
          <p:cNvSpPr txBox="1"/>
          <p:nvPr/>
        </p:nvSpPr>
        <p:spPr>
          <a:xfrm>
            <a:off x="941696" y="5036024"/>
            <a:ext cx="3821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¿Por qué fuente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anunciada?</a:t>
            </a:r>
            <a:endParaRPr lang="es-A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2906E1-4225-9D27-C341-59B83C080393}"/>
              </a:ext>
            </a:extLst>
          </p:cNvPr>
          <p:cNvSpPr txBox="1"/>
          <p:nvPr/>
        </p:nvSpPr>
        <p:spPr>
          <a:xfrm rot="10800000" flipV="1">
            <a:off x="10322495" y="2737777"/>
            <a:ext cx="135484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Parte 1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DFE91A-4D90-1457-E206-B6BB649853E2}"/>
              </a:ext>
            </a:extLst>
          </p:cNvPr>
          <p:cNvSpPr txBox="1"/>
          <p:nvPr/>
        </p:nvSpPr>
        <p:spPr>
          <a:xfrm>
            <a:off x="10508105" y="3308898"/>
            <a:ext cx="11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Parte 2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F7D29E-9FCF-39EE-7209-3CB2CE89DE7F}"/>
              </a:ext>
            </a:extLst>
          </p:cNvPr>
          <p:cNvSpPr txBox="1"/>
          <p:nvPr/>
        </p:nvSpPr>
        <p:spPr>
          <a:xfrm>
            <a:off x="10725665" y="3880021"/>
            <a:ext cx="95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Parte 3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D22B5FF-5B73-BB36-0DE8-BBC16D60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58" y="886900"/>
            <a:ext cx="4289650" cy="33324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1CF8103-39CC-6B4A-EA99-B01720E1F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013" y="2072023"/>
            <a:ext cx="4565482" cy="3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55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8">
            <a:extLst>
              <a:ext uri="{FF2B5EF4-FFF2-40B4-BE49-F238E27FC236}">
                <a16:creationId xmlns:a16="http://schemas.microsoft.com/office/drawing/2014/main" id="{7BB980D3-562A-4896-BF50-1E874ADCBF5A}"/>
              </a:ext>
            </a:extLst>
          </p:cNvPr>
          <p:cNvSpPr txBox="1">
            <a:spLocks/>
          </p:cNvSpPr>
          <p:nvPr/>
        </p:nvSpPr>
        <p:spPr bwMode="auto">
          <a:xfrm>
            <a:off x="716692" y="320003"/>
            <a:ext cx="7587860" cy="92333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600" b="1">
                <a:solidFill>
                  <a:srgbClr val="0077D4"/>
                </a:solidFill>
                <a:latin typeface="Public Sans" pitchFamily="50" charset="0"/>
                <a:ea typeface="Public Sans"/>
                <a:cs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857250">
              <a:buClr>
                <a:srgbClr val="000000"/>
              </a:buClr>
            </a:pPr>
            <a:r>
              <a:rPr lang="fr-FR" sz="3000" kern="0" dirty="0" err="1">
                <a:latin typeface="Public Sans" panose="020B0604020202020204" charset="0"/>
                <a:sym typeface="Public Sans"/>
              </a:rPr>
              <a:t>Definiciones</a:t>
            </a:r>
            <a:r>
              <a:rPr lang="fr-FR" sz="3000" kern="0" dirty="0">
                <a:latin typeface="Public Sans" panose="020B0604020202020204" charset="0"/>
                <a:sym typeface="Public Sans"/>
              </a:rPr>
              <a:t> de los Sistemas de </a:t>
            </a:r>
            <a:r>
              <a:rPr lang="fr-FR" sz="3000" kern="0" dirty="0" err="1">
                <a:latin typeface="Public Sans" panose="020B0604020202020204" charset="0"/>
                <a:sym typeface="Public Sans"/>
              </a:rPr>
              <a:t>Información</a:t>
            </a:r>
            <a:r>
              <a:rPr lang="fr-FR" sz="3000" kern="0" dirty="0">
                <a:latin typeface="Public Sans" panose="020B0604020202020204" charset="0"/>
                <a:sym typeface="Public Sans"/>
              </a:rPr>
              <a:t>  </a:t>
            </a:r>
            <a:r>
              <a:rPr lang="fr-FR" sz="3000" kern="0" dirty="0" err="1">
                <a:latin typeface="Public Sans" panose="020B0604020202020204" charset="0"/>
                <a:sym typeface="Public Sans"/>
              </a:rPr>
              <a:t>Gestión</a:t>
            </a:r>
            <a:r>
              <a:rPr lang="fr-FR" sz="3000" kern="0" dirty="0">
                <a:latin typeface="Public Sans" panose="020B0604020202020204" charset="0"/>
                <a:sym typeface="Public Sans"/>
              </a:rPr>
              <a:t> </a:t>
            </a:r>
            <a:r>
              <a:rPr lang="fr-FR" sz="3000" kern="0" dirty="0" err="1">
                <a:latin typeface="Public Sans" panose="020B0604020202020204" charset="0"/>
                <a:sym typeface="Public Sans"/>
              </a:rPr>
              <a:t>Educativa</a:t>
            </a:r>
            <a:r>
              <a:rPr lang="fr-FR" sz="3000" kern="0" dirty="0">
                <a:latin typeface="Public Sans" panose="020B0604020202020204" charset="0"/>
                <a:sym typeface="Public Sans"/>
              </a:rPr>
              <a:t> (SIGED)</a:t>
            </a:r>
            <a:endParaRPr lang="fr-FR" sz="3000" kern="0" dirty="0">
              <a:latin typeface="Montserrat" panose="00000500000000000000" pitchFamily="2" charset="0"/>
              <a:sym typeface="Public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4CEB1BA-A030-48AF-B1B4-98CC3F7DFEE8}"/>
              </a:ext>
            </a:extLst>
          </p:cNvPr>
          <p:cNvSpPr txBox="1"/>
          <p:nvPr/>
        </p:nvSpPr>
        <p:spPr>
          <a:xfrm>
            <a:off x="1018771" y="1539193"/>
            <a:ext cx="10247435" cy="4508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57250">
              <a:buClr>
                <a:srgbClr val="000000"/>
              </a:buClr>
            </a:pPr>
            <a:r>
              <a:rPr lang="es-AR" sz="1594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“Un SIGED se puede definir como el conjunto de procesos de gestión educativa que sirve para diseñar, registrar, explotar, generar y diseminar información estratégica en línea de forma integral, enmarcados por una </a:t>
            </a:r>
            <a:r>
              <a:rPr lang="es-AR" sz="1594" b="1" kern="0" dirty="0">
                <a:solidFill>
                  <a:srgbClr val="0070C0"/>
                </a:solidFill>
                <a:latin typeface="Public Sans" panose="020B0604020202020204" charset="0"/>
                <a:cs typeface="Arial"/>
                <a:sym typeface="Arial"/>
              </a:rPr>
              <a:t>infraestructura legal, institucional y tecnológica concreta</a:t>
            </a:r>
            <a:r>
              <a:rPr lang="es-AR" sz="1594" kern="0" dirty="0">
                <a:solidFill>
                  <a:srgbClr val="0070C0"/>
                </a:solidFill>
                <a:latin typeface="Public Sans" panose="020B0604020202020204" charset="0"/>
                <a:cs typeface="Arial"/>
                <a:sym typeface="Arial"/>
              </a:rPr>
              <a:t>.</a:t>
            </a:r>
          </a:p>
          <a:p>
            <a:pPr defTabSz="857250">
              <a:buClr>
                <a:srgbClr val="000000"/>
              </a:buClr>
            </a:pPr>
            <a:endParaRPr lang="es-AR" sz="1594" kern="0" dirty="0">
              <a:solidFill>
                <a:srgbClr val="0070C0"/>
              </a:solidFill>
              <a:latin typeface="Public Sans" panose="020B0604020202020204" charset="0"/>
              <a:cs typeface="Arial"/>
              <a:sym typeface="Arial"/>
            </a:endParaRPr>
          </a:p>
          <a:p>
            <a:pPr defTabSz="857250">
              <a:buClr>
                <a:srgbClr val="000000"/>
              </a:buClr>
            </a:pPr>
            <a:r>
              <a:rPr lang="es-AR" sz="1594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Un SIGED debe permitir gestionar los procesos relevantes del sistema educativo de una manera integral y eficiente </a:t>
            </a:r>
            <a:r>
              <a:rPr lang="es-AR" sz="1594" b="1" kern="0" dirty="0">
                <a:solidFill>
                  <a:srgbClr val="0070C0"/>
                </a:solidFill>
                <a:latin typeface="Public Sans" panose="020B0604020202020204" charset="0"/>
                <a:cs typeface="Arial"/>
                <a:sym typeface="Arial"/>
              </a:rPr>
              <a:t>en todos los niveles (central, regional y de las propias escuelas) </a:t>
            </a:r>
            <a:r>
              <a:rPr lang="es-AR" sz="1594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incorporando las nuevas tecnologías (Arias Ortiz </a:t>
            </a:r>
            <a:r>
              <a:rPr lang="es-AR" sz="1594" i="1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et al</a:t>
            </a:r>
            <a:r>
              <a:rPr lang="es-AR" sz="1594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., 2019, citado en BID, 2021:11)”.</a:t>
            </a:r>
          </a:p>
          <a:p>
            <a:pPr defTabSz="857250">
              <a:buClr>
                <a:srgbClr val="000000"/>
              </a:buClr>
            </a:pPr>
            <a:endParaRPr lang="es-AR" sz="1594" kern="0" dirty="0">
              <a:solidFill>
                <a:srgbClr val="000000"/>
              </a:solidFill>
              <a:latin typeface="Public Sans" panose="020B0604020202020204" charset="0"/>
              <a:cs typeface="Arial"/>
              <a:sym typeface="Arial"/>
            </a:endParaRPr>
          </a:p>
          <a:p>
            <a:pPr defTabSz="857250">
              <a:buClr>
                <a:srgbClr val="000000"/>
              </a:buClr>
            </a:pPr>
            <a:r>
              <a:rPr lang="es-AR" sz="1594" i="1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“</a:t>
            </a:r>
            <a:r>
              <a:rPr lang="es-AR" sz="1594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Un EMIS (por sus siglas en inglés: </a:t>
            </a:r>
            <a:r>
              <a:rPr lang="es-ES" sz="1594" i="1" kern="0" dirty="0" err="1">
                <a:solidFill>
                  <a:srgbClr val="000000"/>
                </a:solidFill>
                <a:latin typeface="Public Sans" panose="020B0604020202020204" charset="0"/>
                <a:cs typeface="Arial"/>
              </a:rPr>
              <a:t>Educational</a:t>
            </a:r>
            <a:r>
              <a:rPr lang="es-ES" sz="1594" i="1" kern="0" dirty="0">
                <a:solidFill>
                  <a:srgbClr val="000000"/>
                </a:solidFill>
                <a:latin typeface="Public Sans" panose="020B0604020202020204" charset="0"/>
                <a:cs typeface="Arial"/>
              </a:rPr>
              <a:t> Management </a:t>
            </a:r>
            <a:r>
              <a:rPr lang="es-ES" sz="1594" i="1" kern="0" dirty="0" err="1">
                <a:solidFill>
                  <a:srgbClr val="000000"/>
                </a:solidFill>
                <a:latin typeface="Public Sans" panose="020B0604020202020204" charset="0"/>
                <a:cs typeface="Arial"/>
              </a:rPr>
              <a:t>Information</a:t>
            </a:r>
            <a:r>
              <a:rPr lang="es-ES" sz="1594" i="1" kern="0" dirty="0">
                <a:solidFill>
                  <a:srgbClr val="000000"/>
                </a:solidFill>
                <a:latin typeface="Public Sans" panose="020B0604020202020204" charset="0"/>
                <a:cs typeface="Arial"/>
              </a:rPr>
              <a:t> </a:t>
            </a:r>
            <a:r>
              <a:rPr lang="es-ES" sz="1594" i="1" kern="0" dirty="0" err="1">
                <a:solidFill>
                  <a:srgbClr val="000000"/>
                </a:solidFill>
                <a:latin typeface="Public Sans" panose="020B0604020202020204" charset="0"/>
                <a:cs typeface="Arial"/>
              </a:rPr>
              <a:t>Systems</a:t>
            </a:r>
            <a:r>
              <a:rPr lang="es-ES" sz="1594" kern="0" dirty="0">
                <a:solidFill>
                  <a:srgbClr val="000000"/>
                </a:solidFill>
                <a:latin typeface="Public Sans" panose="020B0604020202020204" charset="0"/>
                <a:cs typeface="Arial"/>
              </a:rPr>
              <a:t>) </a:t>
            </a:r>
            <a:r>
              <a:rPr lang="es-AR" sz="1594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puede ser definido como ‘un sistema para la recolección, integración, procesamiento, mantenimiento y difusión de datos e información con el fin de asistir en la </a:t>
            </a:r>
            <a:r>
              <a:rPr lang="es-AR" sz="1594" b="1" kern="0" dirty="0">
                <a:solidFill>
                  <a:srgbClr val="0070C0"/>
                </a:solidFill>
                <a:latin typeface="Public Sans" panose="020B0604020202020204" charset="0"/>
                <a:cs typeface="Arial"/>
                <a:sym typeface="Arial"/>
              </a:rPr>
              <a:t>toma de decisiones, análisis y formulación de políticas, planificación, monitoreo y gestión en todos los niveles del sistema educativo</a:t>
            </a:r>
            <a:r>
              <a:rPr lang="es-AR" sz="1594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. Es un sistema de personas, tecnología, modelos, métodos, procesos, procedimientos, reglas y normativas que funcionan en conjunto para brindarle una serie de datos e información relevantes, confiables e inequívocos a líderes educativos, tomadores de decisiones y administrativos </a:t>
            </a:r>
            <a:r>
              <a:rPr lang="es-AR" sz="1594" b="1" kern="0" dirty="0">
                <a:solidFill>
                  <a:srgbClr val="0070C0"/>
                </a:solidFill>
                <a:latin typeface="Public Sans" panose="020B0604020202020204" charset="0"/>
                <a:cs typeface="Arial"/>
                <a:sym typeface="Arial"/>
              </a:rPr>
              <a:t>de todos los niveles </a:t>
            </a:r>
            <a:r>
              <a:rPr lang="es-AR" sz="1594" kern="0" dirty="0">
                <a:solidFill>
                  <a:srgbClr val="000000"/>
                </a:solidFill>
                <a:latin typeface="Public Sans" panose="020B0604020202020204" charset="0"/>
                <a:cs typeface="Arial"/>
                <a:sym typeface="Arial"/>
              </a:rPr>
              <a:t>para asistirlos en la concreción de sus responsabilidades (UNESCO, 2019, citado en UNESCO, 2020)”.</a:t>
            </a:r>
          </a:p>
          <a:p>
            <a:pPr defTabSz="857250">
              <a:buClr>
                <a:srgbClr val="000000"/>
              </a:buClr>
            </a:pPr>
            <a:endParaRPr lang="es-AR" sz="1594" kern="0" dirty="0">
              <a:solidFill>
                <a:srgbClr val="000000"/>
              </a:solidFill>
              <a:latin typeface="Public Sans" panose="020B0604020202020204" charset="0"/>
              <a:cs typeface="Arial"/>
              <a:sym typeface="Arial"/>
            </a:endParaRPr>
          </a:p>
          <a:p>
            <a:pPr algn="ctr" defTabSz="857250">
              <a:buClr>
                <a:srgbClr val="000000"/>
              </a:buClr>
            </a:pPr>
            <a:r>
              <a:rPr lang="es-AR" sz="1594" b="1" kern="0" dirty="0">
                <a:solidFill>
                  <a:srgbClr val="0070C0"/>
                </a:solidFill>
                <a:latin typeface="Public Sans" panose="020B0604020202020204" charset="0"/>
                <a:cs typeface="Arial"/>
                <a:sym typeface="Arial"/>
              </a:rPr>
              <a:t>Diferencia entre los relevamientos estadísticos y los registros administrativos </a:t>
            </a:r>
          </a:p>
          <a:p>
            <a:pPr defTabSz="857250">
              <a:buClr>
                <a:srgbClr val="000000"/>
              </a:buClr>
            </a:pPr>
            <a:endParaRPr lang="es-AR" sz="1594" kern="0" dirty="0">
              <a:solidFill>
                <a:srgbClr val="000000"/>
              </a:solidFill>
              <a:latin typeface="Public Sans" panose="020B0604020202020204" charset="0"/>
              <a:cs typeface="Arial"/>
              <a:sym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1E7D94-16EE-9E80-37F9-B52BF4342550}"/>
              </a:ext>
            </a:extLst>
          </p:cNvPr>
          <p:cNvSpPr/>
          <p:nvPr/>
        </p:nvSpPr>
        <p:spPr>
          <a:xfrm>
            <a:off x="9743607" y="269823"/>
            <a:ext cx="2263514" cy="9592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Parte 1</a:t>
            </a:r>
            <a:endParaRPr lang="es-A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32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161C74-C1FB-490B-8466-E78204AA6A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857250">
              <a:buClr>
                <a:srgbClr val="000000"/>
              </a:buClr>
            </a:pPr>
            <a:fld id="{00000000-1234-1234-1234-123412341234}" type="slidenum">
              <a:rPr lang="en-GB" kern="0"/>
              <a:pPr defTabSz="857250">
                <a:buClr>
                  <a:srgbClr val="000000"/>
                </a:buClr>
              </a:pPr>
              <a:t>3</a:t>
            </a:fld>
            <a:endParaRPr lang="en-GB" kern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6D95B2E-53D2-4194-8259-2F4306C34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948209"/>
              </p:ext>
            </p:extLst>
          </p:nvPr>
        </p:nvGraphicFramePr>
        <p:xfrm>
          <a:off x="169682" y="98374"/>
          <a:ext cx="11830051" cy="69258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4063">
                  <a:extLst>
                    <a:ext uri="{9D8B030D-6E8A-4147-A177-3AD203B41FA5}">
                      <a16:colId xmlns:a16="http://schemas.microsoft.com/office/drawing/2014/main" val="443629596"/>
                    </a:ext>
                  </a:extLst>
                </a:gridCol>
                <a:gridCol w="7550094">
                  <a:extLst>
                    <a:ext uri="{9D8B030D-6E8A-4147-A177-3AD203B41FA5}">
                      <a16:colId xmlns:a16="http://schemas.microsoft.com/office/drawing/2014/main" val="3355658133"/>
                    </a:ext>
                  </a:extLst>
                </a:gridCol>
                <a:gridCol w="1461235">
                  <a:extLst>
                    <a:ext uri="{9D8B030D-6E8A-4147-A177-3AD203B41FA5}">
                      <a16:colId xmlns:a16="http://schemas.microsoft.com/office/drawing/2014/main" val="2196051959"/>
                    </a:ext>
                  </a:extLst>
                </a:gridCol>
                <a:gridCol w="1844659">
                  <a:extLst>
                    <a:ext uri="{9D8B030D-6E8A-4147-A177-3AD203B41FA5}">
                      <a16:colId xmlns:a16="http://schemas.microsoft.com/office/drawing/2014/main" val="4164032780"/>
                    </a:ext>
                  </a:extLst>
                </a:gridCol>
              </a:tblGrid>
              <a:tr h="65992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  <a:latin typeface="Public Sans" pitchFamily="50" charset="0"/>
                        </a:rPr>
                        <a:t>País</a:t>
                      </a:r>
                      <a:endParaRPr lang="es-AR" sz="1400" dirty="0">
                        <a:effectLst/>
                        <a:latin typeface="Public Sans" pitchFamily="50" charset="0"/>
                        <a:ea typeface="Calibri" panose="020F0502020204030204" pitchFamily="34" charset="0"/>
                      </a:endParaRPr>
                    </a:p>
                  </a:txBody>
                  <a:tcPr marL="17813" marR="17813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bg1"/>
                          </a:solidFill>
                          <a:effectLst/>
                          <a:latin typeface="Public Sans" pitchFamily="50" charset="0"/>
                        </a:rPr>
                        <a:t>Sistemas de información relevados en 12 países de América Latina – año 2021 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bg1"/>
                          </a:solidFill>
                          <a:effectLst/>
                          <a:latin typeface="Public Sans" pitchFamily="50" charset="0"/>
                        </a:rPr>
                        <a:t>(cantidad y denominación)</a:t>
                      </a:r>
                      <a:endParaRPr lang="es-AR" sz="1400" dirty="0">
                        <a:solidFill>
                          <a:schemeClr val="bg1"/>
                        </a:solidFill>
                        <a:effectLst/>
                        <a:latin typeface="Public Sans" pitchFamily="50" charset="0"/>
                        <a:ea typeface="Calibri" panose="020F0502020204030204" pitchFamily="34" charset="0"/>
                      </a:endParaRPr>
                    </a:p>
                  </a:txBody>
                  <a:tcPr marL="17813" marR="17813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  <a:latin typeface="Public Sans" pitchFamily="50" charset="0"/>
                        </a:rPr>
                        <a:t>Año de inicio sistemas nominales</a:t>
                      </a:r>
                      <a:endParaRPr lang="es-AR" sz="1400" dirty="0">
                        <a:effectLst/>
                        <a:latin typeface="Public Sans" pitchFamily="50" charset="0"/>
                        <a:ea typeface="Calibri" panose="020F0502020204030204" pitchFamily="34" charset="0"/>
                      </a:endParaRPr>
                    </a:p>
                  </a:txBody>
                  <a:tcPr marL="17813" marR="17813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  <a:latin typeface="Public Sans" pitchFamily="50" charset="0"/>
                        </a:rPr>
                        <a:t> SAT vigentes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  <a:latin typeface="Public Sans" pitchFamily="50" charset="0"/>
                        </a:rPr>
                        <a:t>(Denominación)</a:t>
                      </a:r>
                      <a:endParaRPr lang="es-AR" sz="1400" dirty="0">
                        <a:effectLst/>
                        <a:latin typeface="Public Sans" pitchFamily="50" charset="0"/>
                        <a:ea typeface="Calibri" panose="020F0502020204030204" pitchFamily="34" charset="0"/>
                      </a:endParaRPr>
                    </a:p>
                  </a:txBody>
                  <a:tcPr marL="17813" marR="17813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075991"/>
                  </a:ext>
                </a:extLst>
              </a:tr>
              <a:tr h="46668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Perú 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3/ Estadísticas de Calidad Educativa (SCALE) - Sistema de Información de Apoyo a la Gestión de la Institución Educativa (SIAGIE) - Control Escolar 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2003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Alerta Escuela (AE)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3583029091"/>
                  </a:ext>
                </a:extLst>
              </a:tr>
              <a:tr h="85551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Colombia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3/ Censo de educación formal del Departamento Administrativo Nacional de Estadística (DANE)- Sistema de Información de Matrícula (SIMAT) - Planta docente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2005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Sistema de Información para el Monitoreo, la Prevención y el Análisis de la Deserción Escolar (SIMPADE)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4165464814"/>
                  </a:ext>
                </a:extLst>
              </a:tr>
              <a:tr h="46668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Brasil 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3/ Censo Escolar Federal - </a:t>
                      </a:r>
                      <a:r>
                        <a:rPr lang="es-AR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Informatização</a:t>
                      </a: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da Secretaria de </a:t>
                      </a:r>
                      <a:r>
                        <a:rPr lang="es-AR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Educação</a:t>
                      </a: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(ISE) de Río Grande do Sul (RS)- Plataforma Escolar RS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2007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4196060712"/>
                  </a:ext>
                </a:extLst>
              </a:tr>
              <a:tr h="419708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República Dominicana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1/ Sistema de Información para la Gestión Escolar de la República Dominicana (SIGERD)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2008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 proceso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74177710"/>
                  </a:ext>
                </a:extLst>
              </a:tr>
              <a:tr h="46668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Chile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 / Sistema de información general de estudiantes (SIGE)– Sistema de Admisión Escolar (SAE) – Sistema de Alerta Temprana (SAT)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2009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Sistema de Alerta Temprana (SAT)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1333390149"/>
                  </a:ext>
                </a:extLst>
              </a:tr>
              <a:tr h="46668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Costa Rica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2/ Sistema de Información para la Gestión del Centro Educativo (SIGCE) – Programa de Informatización para el alto desempeño (PIAD)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2009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Estrategia de Alerta Temprana (EAT)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1125745772"/>
                  </a:ext>
                </a:extLst>
              </a:tr>
              <a:tr h="2018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Ecuador 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80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1/ Archivo Maestro de Instituciones Educativas (AMIE) 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2009-2010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 proceso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308664677"/>
                  </a:ext>
                </a:extLst>
              </a:tr>
              <a:tr h="419708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Uruguay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3/ Relevamiento Único de Alumnos (RUA) - GURÍ - Sistema de Protección de Trayectorias Educativas (STPE) 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2011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Sistema de Protección a las Trayectorias Educativas (SPTE)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81726166"/>
                  </a:ext>
                </a:extLst>
              </a:tr>
              <a:tr h="58911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Argentina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 / Relevamiento Anual (RA) – Sistema Integral de Información Digital Educativa (SINIDE) y SINIDE Acompañar - Sistema de gestión digital (fase inicial) - Mis Alumnos – Registro Institucional de Trayectoria Educativa (RITE)  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2012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21264433"/>
                  </a:ext>
                </a:extLst>
              </a:tr>
              <a:tr h="30559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México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2/ Sistema de Información y Gestión Educativa (SIGED) - Cuestionario Formato 911 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2013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2770231988"/>
                  </a:ext>
                </a:extLst>
              </a:tr>
              <a:tr h="77771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Guatemala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5/ Sistema de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registros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educativos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(SIRE) - </a:t>
                      </a: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Sistema de Información y Registro de Educación Extraescolar (SIREEX)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- </a:t>
                      </a: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Herramienta de Inteligencia de Negocios Principal del Ministerio de Educación (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BO) - </a:t>
                      </a: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Sistema Integral de Recursos Humanos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eSHIR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- </a:t>
                      </a: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Sistema Nacional de Indicadores Educativos (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SNIE) - </a:t>
                      </a: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Sistema Web de Planificación Operativa Anual (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WebPOA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s-A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2014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Estrategia Nacional para la Transición Exitosa (ENTRE)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26583096"/>
                  </a:ext>
                </a:extLst>
              </a:tr>
              <a:tr h="70964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 Salvador </a:t>
                      </a:r>
                    </a:p>
                  </a:txBody>
                  <a:tcPr marL="17813" marR="17813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1/ Sistema de Información para la Gestión Educativa Salvadoreña (SIGES) 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</a:p>
                  </a:txBody>
                  <a:tcPr marL="17813" marR="1781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Alerta Temprana de Deserción Escolar (ATDE)</a:t>
                      </a:r>
                    </a:p>
                  </a:txBody>
                  <a:tcPr marL="17813" marR="17813" marT="0" marB="0" anchor="ctr"/>
                </a:tc>
                <a:extLst>
                  <a:ext uri="{0D108BD9-81ED-4DB2-BD59-A6C34878D82A}">
                    <a16:rowId xmlns:a16="http://schemas.microsoft.com/office/drawing/2014/main" val="3594271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91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5;p5">
            <a:extLst>
              <a:ext uri="{FF2B5EF4-FFF2-40B4-BE49-F238E27FC236}">
                <a16:creationId xmlns:a16="http://schemas.microsoft.com/office/drawing/2014/main" id="{570F5A58-1D87-E03D-F486-FA4D23778B9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2381" y="252845"/>
            <a:ext cx="2892750" cy="409353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251C77C-053F-2FC9-DD1A-B464161FFC7A}"/>
              </a:ext>
            </a:extLst>
          </p:cNvPr>
          <p:cNvSpPr txBox="1"/>
          <p:nvPr/>
        </p:nvSpPr>
        <p:spPr>
          <a:xfrm>
            <a:off x="4646952" y="4706911"/>
            <a:ext cx="21286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00" dirty="0">
                <a:hlinkClick r:id="rId3"/>
              </a:rPr>
              <a:t>az6193.pdf</a:t>
            </a:r>
            <a:endParaRPr lang="es-AR" sz="10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277E18F-3988-DF4C-9DA5-5F6B7A72C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45" y="261798"/>
            <a:ext cx="2892750" cy="413259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C797C2B-950D-6A88-B314-6F1989B3D53C}"/>
              </a:ext>
            </a:extLst>
          </p:cNvPr>
          <p:cNvSpPr txBox="1"/>
          <p:nvPr/>
        </p:nvSpPr>
        <p:spPr>
          <a:xfrm>
            <a:off x="259831" y="4706911"/>
            <a:ext cx="41472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hlinkClick r:id="rId5"/>
              </a:rPr>
              <a:t>Los Sistemas de Información y Gestión Educativa (SIGED) de América Latina y el Caribe: la ruta hacia la transformación digital de la gestión educativa</a:t>
            </a:r>
            <a:endParaRPr lang="es-AR" sz="10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EFFA4AD0-EEDE-DFAE-B50D-7FEC7A0A20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489" y="261798"/>
            <a:ext cx="3450635" cy="251177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E1B189AE-2049-281C-C2B8-A89D447AA7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5840" y="3827158"/>
            <a:ext cx="3005932" cy="2867501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9B9E6374-9C45-55E0-445A-A7D3D1FA2271}"/>
              </a:ext>
            </a:extLst>
          </p:cNvPr>
          <p:cNvSpPr txBox="1"/>
          <p:nvPr/>
        </p:nvSpPr>
        <p:spPr>
          <a:xfrm>
            <a:off x="4097836" y="5545057"/>
            <a:ext cx="4147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hlinkClick r:id="rId8"/>
              </a:rPr>
              <a:t>Sistemas de alerta temprana: cómo acompañar trayectorias escolares inclusivas - UNESCO Biblioteca Digital</a:t>
            </a:r>
            <a:endParaRPr lang="es-AR" sz="10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2740501-9496-27EF-AD5D-3A5E4993B70B}"/>
              </a:ext>
            </a:extLst>
          </p:cNvPr>
          <p:cNvSpPr txBox="1"/>
          <p:nvPr/>
        </p:nvSpPr>
        <p:spPr>
          <a:xfrm>
            <a:off x="10133751" y="261798"/>
            <a:ext cx="1030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2021</a:t>
            </a:r>
            <a:endParaRPr lang="es-AR" b="1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BD27FB2-E86A-2673-8795-4E7BCFDECF9A}"/>
              </a:ext>
            </a:extLst>
          </p:cNvPr>
          <p:cNvSpPr txBox="1"/>
          <p:nvPr/>
        </p:nvSpPr>
        <p:spPr>
          <a:xfrm>
            <a:off x="7278129" y="6340839"/>
            <a:ext cx="106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2024</a:t>
            </a:r>
            <a:endParaRPr lang="es-AR" b="1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7590155-CC06-F28B-0D5D-68282A9F5CE1}"/>
              </a:ext>
            </a:extLst>
          </p:cNvPr>
          <p:cNvSpPr txBox="1"/>
          <p:nvPr/>
        </p:nvSpPr>
        <p:spPr>
          <a:xfrm>
            <a:off x="749508" y="5545057"/>
            <a:ext cx="112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2021</a:t>
            </a:r>
            <a:endParaRPr lang="es-AR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A3E7D7-1514-CF58-AC63-3BDA0DDA461A}"/>
              </a:ext>
            </a:extLst>
          </p:cNvPr>
          <p:cNvSpPr txBox="1"/>
          <p:nvPr/>
        </p:nvSpPr>
        <p:spPr>
          <a:xfrm>
            <a:off x="5894173" y="4706911"/>
            <a:ext cx="88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2022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05E629-D658-25A8-76DF-722B8DD8038B}"/>
              </a:ext>
            </a:extLst>
          </p:cNvPr>
          <p:cNvSpPr txBox="1"/>
          <p:nvPr/>
        </p:nvSpPr>
        <p:spPr>
          <a:xfrm rot="10800000" flipV="1">
            <a:off x="7713489" y="3111741"/>
            <a:ext cx="3450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hlinkClick r:id="rId9"/>
              </a:rPr>
              <a:t>233-DPP-EDU-Sistemas-de-alerta-temprana-Perusia-y-Cardini-septiembre-2021.pdf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299734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2A64CC8-368B-4825-31B1-7CD14715A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14" y="94790"/>
            <a:ext cx="5045927" cy="363776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3A9C94A-91ED-6D63-8C67-7D2F6AC7F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46" y="3429000"/>
            <a:ext cx="5008726" cy="333421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F00E31C-33C7-F279-C485-77E79B6FB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704" y="550888"/>
            <a:ext cx="6199957" cy="575622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DFC6E47-90DD-DFE8-1227-3EB46B3B4F66}"/>
              </a:ext>
            </a:extLst>
          </p:cNvPr>
          <p:cNvSpPr txBox="1"/>
          <p:nvPr/>
        </p:nvSpPr>
        <p:spPr>
          <a:xfrm>
            <a:off x="9488774" y="6490741"/>
            <a:ext cx="178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BID (2021)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556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5456F7-83D5-DD59-34FA-463BB0EE6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13" y="617937"/>
            <a:ext cx="2994210" cy="39499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23D89A4-A09D-BDA1-59A4-043151495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16" y="599034"/>
            <a:ext cx="2828789" cy="39688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8BC5769-B3DC-BDAC-5E01-3411D5CC8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385" y="474351"/>
            <a:ext cx="2450804" cy="320067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6EB699F-1C34-FB50-985A-2C5AF609E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0646" y="3156037"/>
            <a:ext cx="2711465" cy="3425353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079EB801-7CF7-9C4D-0958-26B97FA5F883}"/>
              </a:ext>
            </a:extLst>
          </p:cNvPr>
          <p:cNvSpPr txBox="1"/>
          <p:nvPr/>
        </p:nvSpPr>
        <p:spPr>
          <a:xfrm rot="10800000" flipV="1">
            <a:off x="7556782" y="4321554"/>
            <a:ext cx="1527257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hlinkClick r:id="rId6"/>
              </a:rPr>
              <a:t>sistemas-de-</a:t>
            </a:r>
            <a:r>
              <a:rPr lang="es-ES" sz="1000" dirty="0" err="1">
                <a:hlinkClick r:id="rId6"/>
              </a:rPr>
              <a:t>proteccion</a:t>
            </a:r>
            <a:r>
              <a:rPr lang="es-ES" sz="1000" dirty="0">
                <a:hlinkClick r:id="rId6"/>
              </a:rPr>
              <a:t>-</a:t>
            </a:r>
            <a:r>
              <a:rPr lang="es-ES" sz="1000" dirty="0" err="1">
                <a:hlinkClick r:id="rId6"/>
              </a:rPr>
              <a:t>de-trayectorias</a:t>
            </a:r>
            <a:r>
              <a:rPr lang="es-ES" sz="1000" dirty="0">
                <a:hlinkClick r:id="rId6"/>
              </a:rPr>
              <a:t> (1).pdf</a:t>
            </a:r>
            <a:r>
              <a:rPr lang="es-ES" sz="1000" dirty="0"/>
              <a:t>  </a:t>
            </a:r>
          </a:p>
          <a:p>
            <a:endParaRPr lang="es-ES" sz="1000" b="1" dirty="0"/>
          </a:p>
          <a:p>
            <a:r>
              <a:rPr lang="es-AR" b="1" dirty="0"/>
              <a:t>2024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0348548-76D4-088B-0E1E-11B0E86A4471}"/>
              </a:ext>
            </a:extLst>
          </p:cNvPr>
          <p:cNvSpPr txBox="1"/>
          <p:nvPr/>
        </p:nvSpPr>
        <p:spPr>
          <a:xfrm>
            <a:off x="10208302" y="2188564"/>
            <a:ext cx="110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2021</a:t>
            </a:r>
            <a:endParaRPr lang="es-AR" b="1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DC9704B-01AC-B27F-A839-39C05BDE12C8}"/>
              </a:ext>
            </a:extLst>
          </p:cNvPr>
          <p:cNvSpPr txBox="1"/>
          <p:nvPr/>
        </p:nvSpPr>
        <p:spPr>
          <a:xfrm>
            <a:off x="5560540" y="5680949"/>
            <a:ext cx="103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2024</a:t>
            </a:r>
            <a:endParaRPr lang="es-AR" b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AD5F2F8-03F8-7AA5-42EA-4A0086772584}"/>
              </a:ext>
            </a:extLst>
          </p:cNvPr>
          <p:cNvSpPr txBox="1"/>
          <p:nvPr/>
        </p:nvSpPr>
        <p:spPr>
          <a:xfrm>
            <a:off x="2459181" y="5449330"/>
            <a:ext cx="790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2022</a:t>
            </a:r>
            <a:endParaRPr lang="es-AR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DA5D0F-2BB5-7E67-46C6-E17D07EF80F6}"/>
              </a:ext>
            </a:extLst>
          </p:cNvPr>
          <p:cNvSpPr txBox="1"/>
          <p:nvPr/>
        </p:nvSpPr>
        <p:spPr>
          <a:xfrm flipH="1">
            <a:off x="9855451" y="474352"/>
            <a:ext cx="16663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hlinkClick r:id="rId7"/>
              </a:rPr>
              <a:t>Camino hacia la inclusión educativa: 4 pasos para la construcción de sistemas de protección de trayectorias: Paso 1: Exclusión educativa en ALC: ¿cómo los sistemas de protección de trayectorias pueden ayudar?</a:t>
            </a:r>
            <a:endParaRPr lang="es-ES" sz="1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2E2B4E-678A-3A3A-330A-8545FE5E8694}"/>
              </a:ext>
            </a:extLst>
          </p:cNvPr>
          <p:cNvSpPr txBox="1"/>
          <p:nvPr/>
        </p:nvSpPr>
        <p:spPr>
          <a:xfrm rot="10800000" flipV="1">
            <a:off x="5016843" y="4973062"/>
            <a:ext cx="1736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hlinkClick r:id="rId8"/>
              </a:rPr>
              <a:t>UNICEF-OEI Sistema Integral de Información Digital Educativa (</a:t>
            </a:r>
            <a:r>
              <a:rPr lang="es-ES" sz="1000" dirty="0" err="1">
                <a:hlinkClick r:id="rId8"/>
              </a:rPr>
              <a:t>SInIDE</a:t>
            </a:r>
            <a:r>
              <a:rPr lang="es-ES" sz="1000" dirty="0">
                <a:hlinkClick r:id="rId8"/>
              </a:rPr>
              <a:t>) | UNICEF</a:t>
            </a:r>
            <a:endParaRPr lang="es-ES" sz="1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61340BE-8700-BC66-8C61-C55EBD8A404C}"/>
              </a:ext>
            </a:extLst>
          </p:cNvPr>
          <p:cNvSpPr txBox="1"/>
          <p:nvPr/>
        </p:nvSpPr>
        <p:spPr>
          <a:xfrm rot="10800000" flipV="1">
            <a:off x="746386" y="4621058"/>
            <a:ext cx="15272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hlinkClick r:id="rId9"/>
              </a:rPr>
              <a:t>Uso de los sistemas de información en el planeamiento y gestión de políticas educativas en Argentina: informe nacional | Instituto Internacional de Planeamiento de la Educación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09142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F7A073-1CE7-9F73-2298-2A909EF14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85" y="91317"/>
            <a:ext cx="9623685" cy="55468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2C51AD0-A0E0-C3BF-6CB9-505A69F78D3F}"/>
              </a:ext>
            </a:extLst>
          </p:cNvPr>
          <p:cNvSpPr txBox="1"/>
          <p:nvPr/>
        </p:nvSpPr>
        <p:spPr>
          <a:xfrm>
            <a:off x="8229601" y="5831175"/>
            <a:ext cx="314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UNICEF-OEI (2024:21)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340C0D0-9604-F740-AF54-0363CA897FA2}"/>
              </a:ext>
            </a:extLst>
          </p:cNvPr>
          <p:cNvSpPr txBox="1"/>
          <p:nvPr/>
        </p:nvSpPr>
        <p:spPr>
          <a:xfrm>
            <a:off x="9743606" y="824459"/>
            <a:ext cx="23384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   2025         2026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Res. 494       Dispo</a:t>
            </a:r>
          </a:p>
          <a:p>
            <a:r>
              <a:rPr lang="es-ES" dirty="0"/>
              <a:t>Art. 5-            Protocolo</a:t>
            </a:r>
          </a:p>
          <a:p>
            <a:r>
              <a:rPr lang="es-ES"/>
              <a:t>BHN               acceso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73277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696FC6-52A3-5DDA-AEE0-5A814286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310" y="809259"/>
            <a:ext cx="10413242" cy="571323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F80D0E0-845C-8FCB-B737-483454E44066}"/>
              </a:ext>
            </a:extLst>
          </p:cNvPr>
          <p:cNvSpPr txBox="1"/>
          <p:nvPr/>
        </p:nvSpPr>
        <p:spPr>
          <a:xfrm>
            <a:off x="2829697" y="111211"/>
            <a:ext cx="8699157" cy="644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dirty="0"/>
              <a:t>TIPOS DE DATOS QUE SE RELEVAN / DISPONIBLES o en DISPONIBILIDAD FUTURA </a:t>
            </a:r>
            <a:endParaRPr lang="es-AR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223A0B1-DEE5-DBE5-6B3B-BBC371761834}"/>
              </a:ext>
            </a:extLst>
          </p:cNvPr>
          <p:cNvSpPr/>
          <p:nvPr/>
        </p:nvSpPr>
        <p:spPr bwMode="auto">
          <a:xfrm>
            <a:off x="444843" y="335510"/>
            <a:ext cx="1828800" cy="776597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s-ES" b="1" kern="0" dirty="0">
                <a:solidFill>
                  <a:srgbClr val="000000"/>
                </a:solidFill>
                <a:latin typeface="Arial"/>
                <a:cs typeface="Arial"/>
              </a:rPr>
              <a:t>Parte 2</a:t>
            </a:r>
          </a:p>
          <a:p>
            <a:pPr algn="ctr">
              <a:defRPr/>
            </a:pPr>
            <a:endParaRPr lang="es-AR" b="1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181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/>
          </p:cNvSpPr>
          <p:nvPr/>
        </p:nvSpPr>
        <p:spPr bwMode="auto">
          <a:xfrm>
            <a:off x="530087" y="116633"/>
            <a:ext cx="11158330" cy="6192686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A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Usos efectivos identificados en la investigación sobre SIGED / IIPE UNESCO en 8 países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A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A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1627"/>
              </a:buClr>
              <a:buSzTx/>
              <a:buFont typeface="Arial"/>
              <a:buAutoNum type="arabicPeriod"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el regular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1627"/>
              </a:buClr>
              <a:buSzTx/>
              <a:buFont typeface="Arial"/>
              <a:buAutoNum type="arabicPeriod"/>
              <a:tabLst/>
              <a:defRPr/>
            </a:pP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el regular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1627"/>
              </a:buClr>
              <a:buSzTx/>
              <a:buFont typeface="Arial"/>
              <a:buAutoNum type="arabicPeriod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Titre 1"/>
          <p:cNvSpPr>
            <a:spLocks/>
          </p:cNvSpPr>
          <p:nvPr/>
        </p:nvSpPr>
        <p:spPr bwMode="auto">
          <a:xfrm>
            <a:off x="2187104" y="1355956"/>
            <a:ext cx="801335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tabLst/>
              <a:defRPr/>
            </a:pPr>
            <a:endParaRPr kumimoji="0" lang="fr-FR" sz="3500" b="0" i="0" u="none" strike="noStrike" kern="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bel regular"/>
              <a:ea typeface="Calibri"/>
              <a:cs typeface="Calibri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30C50C5-FCCC-441C-BBC6-483A1156A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873883"/>
              </p:ext>
            </p:extLst>
          </p:nvPr>
        </p:nvGraphicFramePr>
        <p:xfrm>
          <a:off x="344774" y="548681"/>
          <a:ext cx="11632367" cy="5760639"/>
        </p:xfrm>
        <a:graphic>
          <a:graphicData uri="http://schemas.openxmlformats.org/drawingml/2006/table">
            <a:tbl>
              <a:tblPr/>
              <a:tblGrid>
                <a:gridCol w="2866148">
                  <a:extLst>
                    <a:ext uri="{9D8B030D-6E8A-4147-A177-3AD203B41FA5}">
                      <a16:colId xmlns:a16="http://schemas.microsoft.com/office/drawing/2014/main" val="2214261915"/>
                    </a:ext>
                  </a:extLst>
                </a:gridCol>
                <a:gridCol w="8766219">
                  <a:extLst>
                    <a:ext uri="{9D8B030D-6E8A-4147-A177-3AD203B41FA5}">
                      <a16:colId xmlns:a16="http://schemas.microsoft.com/office/drawing/2014/main" val="3340531336"/>
                    </a:ext>
                  </a:extLst>
                </a:gridCol>
              </a:tblGrid>
              <a:tr h="238588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Tipos de usos</a:t>
                      </a:r>
                    </a:p>
                  </a:txBody>
                  <a:tcPr marL="8082" marR="8082" marT="808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Descripción de usos</a:t>
                      </a:r>
                    </a:p>
                  </a:txBody>
                  <a:tcPr marL="8082" marR="8082" marT="808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682499"/>
                  </a:ext>
                </a:extLst>
              </a:tr>
              <a:tr h="94498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Estabilizados, administrativos, </a:t>
                      </a:r>
                    </a:p>
                    <a:p>
                      <a:pPr algn="l" fontAlgn="ctr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gestión de procesos y gestión escolar</a:t>
                      </a:r>
                    </a:p>
                  </a:txBody>
                  <a:tcPr marL="8082" marR="8082" marT="80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A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Apertura de establecimientos, secciones y asignación de recursos (equipamiento, libros, cargos) - Boleto estudiantil - Becas - Elección de escuela e Inscripción de estudiantes al ciclo lectivo - Servicios alimentarios - Transferencia de recursos a los territorios y a las escuelas - Asignación de subvenciones – Rendición de cuentas.</a:t>
                      </a:r>
                    </a:p>
                  </a:txBody>
                  <a:tcPr marL="8082" marR="8082" marT="808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31492"/>
                  </a:ext>
                </a:extLst>
              </a:tr>
              <a:tr h="1209968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AR" sz="15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nivel escolar: </a:t>
                      </a:r>
                      <a:r>
                        <a:rPr lang="es-A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inscripción, asignación de vacantes, proyección de cupos, matriculación de estudiantes, registro de asistencia, registro de calificaciones, promoción, egreso, comunicación a las familias (boletines), emisión de certificados y títulos. En escuelas técnicas: registro de participación en prácticas profesionalizantes - identificación de estudiantes en riesgo de abandono o con requerimiento de apoyos (SAT).</a:t>
                      </a:r>
                    </a:p>
                  </a:txBody>
                  <a:tcPr marL="8082" marR="8082" marT="808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168123"/>
                  </a:ext>
                </a:extLst>
              </a:tr>
              <a:tr h="1782070">
                <a:tc>
                  <a:txBody>
                    <a:bodyPr/>
                    <a:lstStyle/>
                    <a:p>
                      <a:pPr algn="l" fontAlgn="ctr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Específicos, vinculados al diseño, planeamiento, monitoreo y evaluación de políticas y programas</a:t>
                      </a:r>
                    </a:p>
                  </a:txBody>
                  <a:tcPr marL="8082" marR="8082" marT="80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A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Información de base para elaboración de planes estratégicos o de planificación nacional - Usos estadísticos para generación de indicadores nacionales y para ODS 2030 / reportes a UNESCO y a OECD para monitoreo de avances en torno a metas o para evaluación de acciones - Diseño de políticas de protección a la primera infancia - Políticas de formación de docentes - Políticas de apoyo a la permanencia (SAT) - Políticas de incentivos - Identificación de poblaciones objetivo y de poblaciones específicas (movilidad) - Diseño de oferta educativa en áreas aún no alcanzadas – Estimación de costos de una política – Análisis de brechas territoriales – Elaboración de diagnósticos – Evaluaciones de impacto y de implementación de políticas.  </a:t>
                      </a:r>
                    </a:p>
                  </a:txBody>
                  <a:tcPr marL="8082" marR="8082" marT="808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348013"/>
                  </a:ext>
                </a:extLst>
              </a:tr>
              <a:tr h="1585030">
                <a:tc>
                  <a:txBody>
                    <a:bodyPr/>
                    <a:lstStyle/>
                    <a:p>
                      <a:pPr algn="l" fontAlgn="ctr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Emergentes</a:t>
                      </a:r>
                    </a:p>
                  </a:txBody>
                  <a:tcPr marL="8082" marR="8082" marT="80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A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Seguimiento de situación sanitaria: registro de casos de infección, vacunación para organización de asistencia presencial o apertura de establecimientos - Seguimiento de estudiantes desvinculados/as para su </a:t>
                      </a:r>
                      <a:r>
                        <a:rPr lang="es-AR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revinculación</a:t>
                      </a:r>
                      <a:r>
                        <a:rPr lang="es-A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Identificación de carencias de equipamiento y/o conectividad - Refuerzo de servicios alimentarios - Identificación de estudiantes objeto de acciones específicas (promoción acompañada) - Identificación de recursos necesarios para asignación de docentes a tareas de intensificación de la enseñanza - Modalidad de asistencia: Alternancia –- Virtual o remota – Híbrida.</a:t>
                      </a:r>
                    </a:p>
                  </a:txBody>
                  <a:tcPr marL="8082" marR="8082" marT="808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641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307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13718-5EE5-76FA-A498-6CB13AC3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Acerca de los Sistemas de Protección de Trayectorias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62019B-6A85-734E-5857-2ACC0DBF6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401" indent="0">
              <a:buNone/>
            </a:pPr>
            <a:r>
              <a:rPr lang="es-ES" sz="2800" b="0" i="0" u="none" strike="noStrike" baseline="0" dirty="0">
                <a:solidFill>
                  <a:srgbClr val="602B4E"/>
                </a:solidFill>
                <a:latin typeface="Gotham Medium"/>
              </a:rPr>
              <a:t>“El objetivo de un sistema de protección de trayectorias es “construir las condiciones, para que los recorridos de las niñas, niños y adolescentes dentro del sistema educativo sean continuos, completos y de calidad, disminuyendo el rezago y el abandono temprano, y generando igualdad de oportunidades para el aprendizaje y el desarrollo” (UNICEF, 2020: 1). Estos sistemas suelen estar estructurados en dos componentes: 1) la detección (con las alertas tempranas como herramienta principal destacada) y 2) las intervenciones de remediación y acompañamiento oportunas. Ambos componentes son imprescindibles para lograr el objetivo de reducir la exclusión educativa (BID, 2021:6)”. 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1534333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C5429BC-954D-51A6-DD27-34D63405D2D7}"/>
              </a:ext>
            </a:extLst>
          </p:cNvPr>
          <p:cNvSpPr txBox="1"/>
          <p:nvPr/>
        </p:nvSpPr>
        <p:spPr>
          <a:xfrm>
            <a:off x="168877" y="247136"/>
            <a:ext cx="592712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Tipos de datos que componen  los Sistemas de Protección de trayectorias o los denominados de “alerta temprana” (SPT – SAT) / </a:t>
            </a:r>
            <a:r>
              <a:rPr lang="es-ES" b="1" dirty="0">
                <a:solidFill>
                  <a:srgbClr val="7030A0"/>
                </a:solidFill>
              </a:rPr>
              <a:t>o podrían componer </a:t>
            </a:r>
          </a:p>
          <a:p>
            <a:endParaRPr lang="es-ES" dirty="0"/>
          </a:p>
          <a:p>
            <a:r>
              <a:rPr lang="es-ES" i="1" dirty="0"/>
              <a:t>Individuales: </a:t>
            </a:r>
          </a:p>
          <a:p>
            <a:r>
              <a:rPr lang="es-ES" dirty="0"/>
              <a:t>datos personales / desempeño académico / asistencia / trayectoria escolar previa-acumulada / acceso a apoyos (becas, AUH, movilidad) / condición de actividad / aspectos relativos a la conducta / temas de salud (adicciones, discapacidad, vacunas)</a:t>
            </a:r>
          </a:p>
          <a:p>
            <a:endParaRPr lang="es-ES" dirty="0"/>
          </a:p>
          <a:p>
            <a:r>
              <a:rPr lang="es-ES" i="1" dirty="0"/>
              <a:t>Familiares: </a:t>
            </a:r>
          </a:p>
          <a:p>
            <a:r>
              <a:rPr lang="es-ES" dirty="0"/>
              <a:t>atributos de las familias – situaciones de vulnerabilidad – nivel socioeconómico (art. 95 LEN) – embarazo – tareas de cuidado – nivel educativo de personas adultas en el hogar</a:t>
            </a:r>
          </a:p>
          <a:p>
            <a:endParaRPr lang="es-ES" dirty="0"/>
          </a:p>
          <a:p>
            <a:r>
              <a:rPr lang="es-ES" i="1" dirty="0"/>
              <a:t>Institucionales: </a:t>
            </a:r>
          </a:p>
          <a:p>
            <a:r>
              <a:rPr lang="es-ES" dirty="0"/>
              <a:t>clima escolar – condiciones edilicias – antigüedad equipos directivos – formación de docentes – ausentismo docente –  existencia de programas – rotación docente 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9FB4287-F22D-132B-DCD9-B00F98BDEF42}"/>
              </a:ext>
            </a:extLst>
          </p:cNvPr>
          <p:cNvSpPr txBox="1"/>
          <p:nvPr/>
        </p:nvSpPr>
        <p:spPr>
          <a:xfrm>
            <a:off x="7871255" y="5140411"/>
            <a:ext cx="24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CIPPEC (2021)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9880C4-B02D-5C2B-3A64-59779B6CC460}"/>
              </a:ext>
            </a:extLst>
          </p:cNvPr>
          <p:cNvSpPr txBox="1"/>
          <p:nvPr/>
        </p:nvSpPr>
        <p:spPr>
          <a:xfrm>
            <a:off x="7043351" y="5634682"/>
            <a:ext cx="49797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7030A0"/>
                </a:solidFill>
              </a:rPr>
              <a:t>Discusiones en torno a los SAT / qué tipo de vulnerabilidad o riesgo identifican en base a qué</a:t>
            </a:r>
          </a:p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00E30A8-3F2B-756E-9691-F6D7E25BD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443" y="1018405"/>
            <a:ext cx="5634681" cy="38001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BEC4F89-018C-179E-A6D2-56568E51F775}"/>
              </a:ext>
            </a:extLst>
          </p:cNvPr>
          <p:cNvSpPr txBox="1"/>
          <p:nvPr/>
        </p:nvSpPr>
        <p:spPr>
          <a:xfrm>
            <a:off x="8007179" y="247135"/>
            <a:ext cx="294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Principales usos: protocolos de intervención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8DA409A-32EE-C719-146F-1CFFB88AFB8C}"/>
              </a:ext>
            </a:extLst>
          </p:cNvPr>
          <p:cNvSpPr txBox="1"/>
          <p:nvPr/>
        </p:nvSpPr>
        <p:spPr>
          <a:xfrm>
            <a:off x="269823" y="6100997"/>
            <a:ext cx="61186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objetivo de un sistema de protección de trayectorias es “construir las condiciones, para que los recorridos de las niñas, niños y adolescentes dentro del sistema educativo sean continuos, completos y de calidad, disminuyendo el rezago y el abandono temprano, y generando igualdad de oportunidades para el aprendizaje y el desarrollo” (UNICEF, 2020: 1). Estos sistemas suelen estar estructurados en dos componentes: 1) la detección (con las alertas tempranas como herramienta principal destacada) y 2) las intervenciones de remediación y acompañamiento oportunas. Ambos componentes son imprescindibles para lograr el objetivo de reducir la exclusión educativa.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71514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3FF0A96-071A-A89E-50C8-7A4327653A02}"/>
              </a:ext>
            </a:extLst>
          </p:cNvPr>
          <p:cNvSpPr txBox="1"/>
          <p:nvPr/>
        </p:nvSpPr>
        <p:spPr>
          <a:xfrm>
            <a:off x="409433" y="504967"/>
            <a:ext cx="4107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Datos </a:t>
            </a:r>
            <a:r>
              <a:rPr lang="es-ES" dirty="0" err="1"/>
              <a:t>disponibilizados</a:t>
            </a:r>
            <a:r>
              <a:rPr lang="es-ES" dirty="0"/>
              <a:t> de manera pública resultado de bases nominales de estudiantes 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F1F5C4-02FC-F12A-C183-1175C133E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097" y="313898"/>
            <a:ext cx="6510903" cy="521037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4121AA8-B312-65FE-24CD-15468B404648}"/>
              </a:ext>
            </a:extLst>
          </p:cNvPr>
          <p:cNvSpPr txBox="1"/>
          <p:nvPr/>
        </p:nvSpPr>
        <p:spPr>
          <a:xfrm rot="10800000" flipH="1" flipV="1">
            <a:off x="8215951" y="5795037"/>
            <a:ext cx="3821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hlinkClick r:id="rId3"/>
              </a:rPr>
              <a:t>Sistema de Consulta de Datos Educativos Nacionales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9D988D5-0547-6208-67EB-53994566A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34" y="1814060"/>
            <a:ext cx="3357350" cy="242100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E951AE7-3775-FAE8-248E-DD44E8C6DC3F}"/>
              </a:ext>
            </a:extLst>
          </p:cNvPr>
          <p:cNvSpPr txBox="1"/>
          <p:nvPr/>
        </p:nvSpPr>
        <p:spPr>
          <a:xfrm>
            <a:off x="3971499" y="2142699"/>
            <a:ext cx="1337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hlinkClick r:id="rId5"/>
              </a:rPr>
              <a:t>pasaje_de_nivel.pdf</a:t>
            </a:r>
            <a:endParaRPr lang="es-AR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1C720C7-BA11-8368-8590-ABBF22737E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9647" y="4068971"/>
            <a:ext cx="3549097" cy="2436431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6792E8F-50A5-36C2-A6A1-76A95EEF0E6F}"/>
              </a:ext>
            </a:extLst>
          </p:cNvPr>
          <p:cNvSpPr txBox="1"/>
          <p:nvPr/>
        </p:nvSpPr>
        <p:spPr>
          <a:xfrm rot="10800000" flipH="1" flipV="1">
            <a:off x="154675" y="5262474"/>
            <a:ext cx="2144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hlinkClick r:id="rId7"/>
              </a:rPr>
              <a:t>hcd_ausentismo_27126.pdf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23267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D78F83-2871-5408-2421-A7580CDABF91}"/>
              </a:ext>
            </a:extLst>
          </p:cNvPr>
          <p:cNvSpPr txBox="1"/>
          <p:nvPr/>
        </p:nvSpPr>
        <p:spPr>
          <a:xfrm>
            <a:off x="556054" y="298300"/>
            <a:ext cx="8348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Datos disponibles para usos internos de los equipos de gestión y de las escuelas</a:t>
            </a:r>
          </a:p>
          <a:p>
            <a:r>
              <a:rPr lang="es-UY" dirty="0">
                <a:latin typeface="Calibri" panose="020F050202020403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Escuelas que integran la muestra en la que se implementó el piloto del Módulo SAT</a:t>
            </a:r>
            <a:endParaRPr lang="es-ES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es-ES" dirty="0"/>
              <a:t> </a:t>
            </a:r>
            <a:endParaRPr lang="es-AR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03B239A-0AA4-BDA0-CAF2-C502A012E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324394"/>
              </p:ext>
            </p:extLst>
          </p:nvPr>
        </p:nvGraphicFramePr>
        <p:xfrm>
          <a:off x="432486" y="2001796"/>
          <a:ext cx="5572898" cy="2152062"/>
        </p:xfrm>
        <a:graphic>
          <a:graphicData uri="http://schemas.openxmlformats.org/drawingml/2006/table">
            <a:tbl>
              <a:tblPr bandRow="1"/>
              <a:tblGrid>
                <a:gridCol w="1025611">
                  <a:extLst>
                    <a:ext uri="{9D8B030D-6E8A-4147-A177-3AD203B41FA5}">
                      <a16:colId xmlns:a16="http://schemas.microsoft.com/office/drawing/2014/main" val="1707220192"/>
                    </a:ext>
                  </a:extLst>
                </a:gridCol>
                <a:gridCol w="1124465">
                  <a:extLst>
                    <a:ext uri="{9D8B030D-6E8A-4147-A177-3AD203B41FA5}">
                      <a16:colId xmlns:a16="http://schemas.microsoft.com/office/drawing/2014/main" val="4194504720"/>
                    </a:ext>
                  </a:extLst>
                </a:gridCol>
                <a:gridCol w="1232381">
                  <a:extLst>
                    <a:ext uri="{9D8B030D-6E8A-4147-A177-3AD203B41FA5}">
                      <a16:colId xmlns:a16="http://schemas.microsoft.com/office/drawing/2014/main" val="737222506"/>
                    </a:ext>
                  </a:extLst>
                </a:gridCol>
                <a:gridCol w="1037144">
                  <a:extLst>
                    <a:ext uri="{9D8B030D-6E8A-4147-A177-3AD203B41FA5}">
                      <a16:colId xmlns:a16="http://schemas.microsoft.com/office/drawing/2014/main" val="4012966369"/>
                    </a:ext>
                  </a:extLst>
                </a:gridCol>
                <a:gridCol w="1153297">
                  <a:extLst>
                    <a:ext uri="{9D8B030D-6E8A-4147-A177-3AD203B41FA5}">
                      <a16:colId xmlns:a16="http://schemas.microsoft.com/office/drawing/2014/main" val="2664031815"/>
                    </a:ext>
                  </a:extLst>
                </a:gridCol>
              </a:tblGrid>
              <a:tr h="840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Ciclo de cursada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Estudiantes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Egresados/as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% Egreso 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a término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% que no logra egresar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46547"/>
                  </a:ext>
                </a:extLst>
              </a:tr>
              <a:tr h="4372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2023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1.584 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822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51,9 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48,1 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665753"/>
                  </a:ext>
                </a:extLst>
              </a:tr>
              <a:tr h="4372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2022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1.565 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853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 54,5 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45,5 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654134"/>
                  </a:ext>
                </a:extLst>
              </a:tr>
              <a:tr h="4372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2021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 1.580 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929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58,8 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41,2 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24963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E0C30EF8-0A1D-DDFB-9ACE-353FCB42CBF0}"/>
              </a:ext>
            </a:extLst>
          </p:cNvPr>
          <p:cNvSpPr txBox="1"/>
          <p:nvPr/>
        </p:nvSpPr>
        <p:spPr>
          <a:xfrm>
            <a:off x="271850" y="1322362"/>
            <a:ext cx="5733534" cy="543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UY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Cuadro 1. Estudiantes del último año de la secundaria y porcentaje según condición de egreso a término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C3B9EEE-9915-58CD-DB49-055EDE05D501}"/>
              </a:ext>
            </a:extLst>
          </p:cNvPr>
          <p:cNvSpPr txBox="1"/>
          <p:nvPr/>
        </p:nvSpPr>
        <p:spPr>
          <a:xfrm>
            <a:off x="6660292" y="1050324"/>
            <a:ext cx="4534930" cy="77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UY" sz="1400" dirty="0"/>
              <a:t>Cuadro 2. Estudiantes del último año de la secundaria que no egresaron a término según cantidad de materias no aprobadas al último día de clases </a:t>
            </a:r>
            <a:endParaRPr lang="es-E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0D0F71F-574A-A256-A12B-5B9DEA545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894962"/>
              </p:ext>
            </p:extLst>
          </p:nvPr>
        </p:nvGraphicFramePr>
        <p:xfrm>
          <a:off x="6660292" y="2001796"/>
          <a:ext cx="5099221" cy="2152063"/>
        </p:xfrm>
        <a:graphic>
          <a:graphicData uri="http://schemas.openxmlformats.org/drawingml/2006/table">
            <a:tbl>
              <a:tblPr bandRow="1"/>
              <a:tblGrid>
                <a:gridCol w="849870">
                  <a:extLst>
                    <a:ext uri="{9D8B030D-6E8A-4147-A177-3AD203B41FA5}">
                      <a16:colId xmlns:a16="http://schemas.microsoft.com/office/drawing/2014/main" val="838185678"/>
                    </a:ext>
                  </a:extLst>
                </a:gridCol>
                <a:gridCol w="1065368">
                  <a:extLst>
                    <a:ext uri="{9D8B030D-6E8A-4147-A177-3AD203B41FA5}">
                      <a16:colId xmlns:a16="http://schemas.microsoft.com/office/drawing/2014/main" val="2894571727"/>
                    </a:ext>
                  </a:extLst>
                </a:gridCol>
                <a:gridCol w="634373">
                  <a:extLst>
                    <a:ext uri="{9D8B030D-6E8A-4147-A177-3AD203B41FA5}">
                      <a16:colId xmlns:a16="http://schemas.microsoft.com/office/drawing/2014/main" val="3391712250"/>
                    </a:ext>
                  </a:extLst>
                </a:gridCol>
                <a:gridCol w="849870">
                  <a:extLst>
                    <a:ext uri="{9D8B030D-6E8A-4147-A177-3AD203B41FA5}">
                      <a16:colId xmlns:a16="http://schemas.microsoft.com/office/drawing/2014/main" val="1849391289"/>
                    </a:ext>
                  </a:extLst>
                </a:gridCol>
                <a:gridCol w="849870">
                  <a:extLst>
                    <a:ext uri="{9D8B030D-6E8A-4147-A177-3AD203B41FA5}">
                      <a16:colId xmlns:a16="http://schemas.microsoft.com/office/drawing/2014/main" val="4108283920"/>
                    </a:ext>
                  </a:extLst>
                </a:gridCol>
                <a:gridCol w="849870">
                  <a:extLst>
                    <a:ext uri="{9D8B030D-6E8A-4147-A177-3AD203B41FA5}">
                      <a16:colId xmlns:a16="http://schemas.microsoft.com/office/drawing/2014/main" val="656010113"/>
                    </a:ext>
                  </a:extLst>
                </a:gridCol>
              </a:tblGrid>
              <a:tr h="662761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 </a:t>
                      </a: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Ciclo de cursada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 </a:t>
                      </a: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Estudiantes 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Cantidad de materias no aprobadas al último día de clases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340529"/>
                  </a:ext>
                </a:extLst>
              </a:tr>
              <a:tr h="231399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1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3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4 o más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47979"/>
                  </a:ext>
                </a:extLst>
              </a:tr>
              <a:tr h="4193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2023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762</a:t>
                      </a:r>
                      <a:endParaRPr lang="es-ES" sz="14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189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117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81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375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765935"/>
                  </a:ext>
                </a:extLst>
              </a:tr>
              <a:tr h="4193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2022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712</a:t>
                      </a:r>
                      <a:endParaRPr lang="es-ES" sz="14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193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123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103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293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85339"/>
                  </a:ext>
                </a:extLst>
              </a:tr>
              <a:tr h="4193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2021</a:t>
                      </a:r>
                      <a:endParaRPr lang="es-E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929</a:t>
                      </a:r>
                      <a:endParaRPr lang="es-ES" sz="14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266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208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112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UY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ptos" panose="020B0004020202020204" pitchFamily="34" charset="0"/>
                        </a:rPr>
                        <a:t>343</a:t>
                      </a:r>
                      <a:endParaRPr lang="es-E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790907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3C21478A-BFBE-6DF9-5597-A15DEB2947C2}"/>
              </a:ext>
            </a:extLst>
          </p:cNvPr>
          <p:cNvSpPr txBox="1"/>
          <p:nvPr/>
        </p:nvSpPr>
        <p:spPr>
          <a:xfrm>
            <a:off x="271850" y="4426939"/>
            <a:ext cx="114876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Y" dirty="0"/>
              <a:t>La tasa de no finalización en la provincia oscila entre el 41% y el 48% según valores de esos años, aumentando hacia 2023. </a:t>
            </a:r>
          </a:p>
          <a:p>
            <a:endParaRPr lang="es-UY" dirty="0"/>
          </a:p>
          <a:p>
            <a:r>
              <a:rPr lang="es-UY" dirty="0"/>
              <a:t>El</a:t>
            </a:r>
            <a:r>
              <a:rPr lang="es-UY" dirty="0">
                <a:latin typeface="Calibri" panose="020F050202020403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40% de quienes no egresaron a término tiene, en 2023, entre uno y dos espacios curriculares desaprobados. Unas 16 escuelas de las 40 totales, tienen en situación de no egreso a término a 10 estudiantes, de manera que parece factible la organización de estrategias de seguimiento para que sea posible aprobar y rendir los espacios curriculares pendientes en otros turnos de exámenes u organizar, como la provincia de Río Negro, que algún perfil específico asuma la responsabilidad sobre la comunicación y seguimiento de los y las estudiantes para lograr la </a:t>
            </a:r>
            <a:r>
              <a:rPr lang="es-UY" dirty="0" err="1">
                <a:latin typeface="Calibri" panose="020F050202020403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terminalidad</a:t>
            </a:r>
            <a:r>
              <a:rPr lang="es-UY" dirty="0">
                <a:latin typeface="Calibri" panose="020F050202020403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de los estudios.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6997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908752-DC34-D29F-F9C1-BF0B501F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51" y="590266"/>
            <a:ext cx="5893032" cy="283873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91D7495-CBEF-606A-276B-D61AD71922BF}"/>
              </a:ext>
            </a:extLst>
          </p:cNvPr>
          <p:cNvSpPr txBox="1"/>
          <p:nvPr/>
        </p:nvSpPr>
        <p:spPr>
          <a:xfrm>
            <a:off x="10153934" y="4995081"/>
            <a:ext cx="16568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hlinkClick r:id="rId3"/>
              </a:rPr>
              <a:t>MESAS SIGED</a:t>
            </a:r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1B3974C-66D0-06ED-19A7-D498A5FF2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715" y="502705"/>
            <a:ext cx="5439534" cy="41534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ACE3EE-7804-AA7B-A35A-29BC5B9D3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229" y="4119457"/>
            <a:ext cx="9554908" cy="261021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BDAC355-B217-4B86-F636-70467436707E}"/>
              </a:ext>
            </a:extLst>
          </p:cNvPr>
          <p:cNvSpPr/>
          <p:nvPr/>
        </p:nvSpPr>
        <p:spPr>
          <a:xfrm>
            <a:off x="49201" y="110623"/>
            <a:ext cx="2263514" cy="959286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Parte 3</a:t>
            </a:r>
            <a:endParaRPr kumimoji="0" lang="es-A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075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7976E9-053C-FAEB-0D26-8A46115BB426}"/>
              </a:ext>
            </a:extLst>
          </p:cNvPr>
          <p:cNvSpPr txBox="1"/>
          <p:nvPr/>
        </p:nvSpPr>
        <p:spPr>
          <a:xfrm>
            <a:off x="463688" y="409434"/>
            <a:ext cx="3344037" cy="26385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Temas de </a:t>
            </a:r>
            <a:r>
              <a:rPr lang="en-US" sz="3600" dirty="0" err="1">
                <a:latin typeface="+mj-lt"/>
                <a:ea typeface="+mj-ea"/>
                <a:cs typeface="+mj-cs"/>
              </a:rPr>
              <a:t>investigación</a:t>
            </a:r>
            <a:r>
              <a:rPr lang="en-US" sz="3600" dirty="0"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atin typeface="+mj-lt"/>
                <a:ea typeface="+mj-ea"/>
                <a:cs typeface="+mj-cs"/>
              </a:rPr>
              <a:t>posibles</a:t>
            </a:r>
            <a:r>
              <a:rPr lang="en-US" sz="3600" dirty="0"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5C36334-F8F0-0136-F19B-03146708ED5E}"/>
              </a:ext>
            </a:extLst>
          </p:cNvPr>
          <p:cNvSpPr txBox="1"/>
          <p:nvPr/>
        </p:nvSpPr>
        <p:spPr>
          <a:xfrm>
            <a:off x="3513963" y="257135"/>
            <a:ext cx="75642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¿Qué provincias avanzaron en esquemas de usos para sus equipos centrales o territoriales? ¿Qué recursos técnicos y profesionales tienen disponibles aquellas que sí han podido avanzar? 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¿Qué capacidades o recursos son necesarios para el acceso a estos sistemas al nivel de funcionarios/as, equipos directivos y perfiles docentes? ¿Cómo inciden en las prácticas habituales y qué nuevos esquemas de trabajo permiten o qué incidencias tienen sobre el vínculo y comunicación con las familias? Carácter performativo de estas herramientas 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¿Cuál es la especificidad del tipo de información que se requiere en cada nivel de la gestión y del gobierno de la educación? ¿Qué tipo de protocolos o intervenciones se generan a partir de estas herramientas?</a:t>
            </a:r>
          </a:p>
          <a:p>
            <a:endParaRPr lang="es-ES" dirty="0"/>
          </a:p>
          <a:p>
            <a:r>
              <a:rPr lang="es-AR" dirty="0"/>
              <a:t>¿Cómo se pueden analizar aspectos de las trayectorias escolares a partir de contar con trayectorias reales en lugar de teóricas? ¿Qué otros análisis de datos son posibles ahora?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314868-59F9-2988-7AB4-AA396AAE9903}"/>
              </a:ext>
            </a:extLst>
          </p:cNvPr>
          <p:cNvSpPr txBox="1"/>
          <p:nvPr/>
        </p:nvSpPr>
        <p:spPr>
          <a:xfrm>
            <a:off x="659543" y="1978702"/>
            <a:ext cx="2357597" cy="452431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Trabajar con estas fuentes no es sólo trabajar sobre sus datos, también invita a mirar analíticamente sus condiciones de posibilidad, su infraestructura  y otros aspectos relativos a políticas, </a:t>
            </a:r>
            <a:r>
              <a:rPr lang="es-ES" b="1">
                <a:solidFill>
                  <a:srgbClr val="0070C0"/>
                </a:solidFill>
              </a:rPr>
              <a:t>a instrumentos </a:t>
            </a:r>
            <a:r>
              <a:rPr lang="es-ES" b="1" dirty="0">
                <a:solidFill>
                  <a:srgbClr val="0070C0"/>
                </a:solidFill>
              </a:rPr>
              <a:t>y a dispositivos vinculados al gobierno de las poblaciones</a:t>
            </a:r>
            <a:endParaRPr lang="es-A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122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189E56-895B-4958-DEE6-452076449B3B}"/>
              </a:ext>
            </a:extLst>
          </p:cNvPr>
          <p:cNvSpPr txBox="1"/>
          <p:nvPr/>
        </p:nvSpPr>
        <p:spPr>
          <a:xfrm>
            <a:off x="1223889" y="1125415"/>
            <a:ext cx="99880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ighlight>
                  <a:srgbClr val="00FF00"/>
                </a:highlight>
              </a:rPr>
              <a:t>Para seguir pensando estrategias de investigación y ampliación de los análisis</a:t>
            </a:r>
          </a:p>
          <a:p>
            <a:endParaRPr lang="es-ES" dirty="0"/>
          </a:p>
          <a:p>
            <a:endParaRPr lang="es-ES" dirty="0"/>
          </a:p>
          <a:p>
            <a:pPr algn="just"/>
            <a:r>
              <a:rPr lang="es-ES" dirty="0"/>
              <a:t>Necesidad de generar instancias de trabajos compartidos entre integrantes de equipos técnicos de las jurisdicciones y equipos de investigación o analistas de las universidades – algunas provincias ya avanzaron con generar redes entre equipos de la gestión y universidades/especialistas para trabajar sobre tópicos de interés del gobierno y ampliar las miradas y acceso a recursos de información que se producen o están o deberían estar disponibles. </a:t>
            </a:r>
          </a:p>
          <a:p>
            <a:endParaRPr lang="es-ES" dirty="0"/>
          </a:p>
          <a:p>
            <a:r>
              <a:rPr lang="es-ES" dirty="0"/>
              <a:t>RISE (UEICCE, CABA) – PBA (ETP) – Córdoba (Planeamiento) </a:t>
            </a:r>
          </a:p>
          <a:p>
            <a:endParaRPr lang="es-ES" dirty="0"/>
          </a:p>
          <a:p>
            <a:r>
              <a:rPr lang="es-ES" dirty="0"/>
              <a:t>En contextos de restricción de recursos esta escena es necesaria, para ambos espacios de trabajo. </a:t>
            </a:r>
          </a:p>
          <a:p>
            <a:endParaRPr lang="es-ES" dirty="0"/>
          </a:p>
          <a:p>
            <a:pPr algn="just"/>
            <a:r>
              <a:rPr lang="es-ES" dirty="0"/>
              <a:t>Es la vieja discusión – tensión – relación entre investigación y política (Carol Weiss) y el concepto de gobernanza que propone ampliar la participación en la elaboración de diagnósticos, diseños, monitoreo, análisis y evaluación de las políticas o en su implementación a más actores (Aguilar Villanueva). No es sin el estado, pero solo el estado no alcanza.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93027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2350</Words>
  <Application>Microsoft Office PowerPoint</Application>
  <PresentationFormat>Panorámica</PresentationFormat>
  <Paragraphs>211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16</vt:i4>
      </vt:variant>
    </vt:vector>
  </HeadingPairs>
  <TitlesOfParts>
    <vt:vector size="29" baseType="lpstr">
      <vt:lpstr>Abel regular</vt:lpstr>
      <vt:lpstr>Aptos</vt:lpstr>
      <vt:lpstr>Aptos Display</vt:lpstr>
      <vt:lpstr>Arial</vt:lpstr>
      <vt:lpstr>Calibri</vt:lpstr>
      <vt:lpstr>Gotham Medium</vt:lpstr>
      <vt:lpstr>Montserrat</vt:lpstr>
      <vt:lpstr>Public Sans</vt:lpstr>
      <vt:lpstr>Public Sans Light</vt:lpstr>
      <vt:lpstr>Public Sans Thin</vt:lpstr>
      <vt:lpstr>Tema de Office</vt:lpstr>
      <vt:lpstr>Office Theme</vt:lpstr>
      <vt:lpstr>Thème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Acerca de los Sistemas de Protección de Trayectorias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Nancy Montes</dc:creator>
  <cp:lastModifiedBy>Nancy Montes</cp:lastModifiedBy>
  <cp:revision>22</cp:revision>
  <dcterms:created xsi:type="dcterms:W3CDTF">2026-05-20T13:16:44Z</dcterms:created>
  <dcterms:modified xsi:type="dcterms:W3CDTF">2026-05-22T10:12:09Z</dcterms:modified>
</cp:coreProperties>
</file>